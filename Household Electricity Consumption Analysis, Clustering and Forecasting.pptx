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5"/>
  </p:notes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9" r:id="rId14"/>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055"/>
    <a:srgbClr val="8BDFE1"/>
    <a:srgbClr val="162746"/>
    <a:srgbClr val="91DB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1" d="100"/>
          <a:sy n="51" d="100"/>
        </p:scale>
        <p:origin x="1232"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B6B82"/>
                </a:solidFill>
                <a:latin typeface="Arial"/>
              </a:defRPr>
            </a:pPr>
            <a:r>
              <a:rPr lang="en-US" sz="1100" b="0" i="0" u="none" strike="noStrike">
                <a:solidFill>
                  <a:srgbClr val="5B6B82"/>
                </a:solidFill>
                <a:latin typeface="Arial"/>
              </a:rPr>
              <a:t>Hourly Observations per Cluster (log-scale gap is real)</a:t>
            </a:r>
          </a:p>
        </c:rich>
      </c:tx>
      <c:overlay val="0"/>
    </c:title>
    <c:autoTitleDeleted val="0"/>
    <c:plotArea>
      <c:layout/>
      <c:barChart>
        <c:barDir val="col"/>
        <c:grouping val="clustered"/>
        <c:varyColors val="0"/>
        <c:ser>
          <c:idx val="0"/>
          <c:order val="0"/>
          <c:tx>
            <c:strRef>
              <c:f>Sheet1!$B$1</c:f>
              <c:strCache>
                <c:ptCount val="1"/>
                <c:pt idx="0">
                  <c:v>Hours in Cluster</c:v>
                </c:pt>
              </c:strCache>
            </c:strRef>
          </c:tx>
          <c:spPr>
            <a:solidFill>
              <a:srgbClr val="00C2D1"/>
            </a:solidFill>
            <a:effectLst/>
          </c:spPr>
          <c:invertIfNegative val="0"/>
          <c:dLbls>
            <c:numFmt formatCode="#,##0" sourceLinked="0"/>
            <c:spPr>
              <a:noFill/>
              <a:ln>
                <a:noFill/>
              </a:ln>
              <a:effectLst/>
            </c:spPr>
            <c:txPr>
              <a:bodyPr/>
              <a:lstStyle/>
              <a:p>
                <a:pPr>
                  <a:defRPr sz="8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High
(C0)</c:v>
                </c:pt>
                <c:pt idx="1">
                  <c:v>Low-Med
(C1)</c:v>
                </c:pt>
                <c:pt idx="2">
                  <c:v>Low
(C2)</c:v>
                </c:pt>
                <c:pt idx="3">
                  <c:v>Medium
(C3)</c:v>
                </c:pt>
                <c:pt idx="4">
                  <c:v>Low
(C4)</c:v>
                </c:pt>
                <c:pt idx="5">
                  <c:v>Very Low
(C5)</c:v>
                </c:pt>
              </c:strCache>
            </c:strRef>
          </c:cat>
          <c:val>
            <c:numRef>
              <c:f>Sheet1!$B$2:$B$7</c:f>
              <c:numCache>
                <c:formatCode>General</c:formatCode>
                <c:ptCount val="6"/>
                <c:pt idx="0">
                  <c:v>28404</c:v>
                </c:pt>
                <c:pt idx="1">
                  <c:v>1105</c:v>
                </c:pt>
                <c:pt idx="2">
                  <c:v>1582</c:v>
                </c:pt>
                <c:pt idx="3">
                  <c:v>1242</c:v>
                </c:pt>
                <c:pt idx="4">
                  <c:v>906</c:v>
                </c:pt>
                <c:pt idx="5">
                  <c:v>1350</c:v>
                </c:pt>
              </c:numCache>
            </c:numRef>
          </c:val>
          <c:extLst>
            <c:ext xmlns:c16="http://schemas.microsoft.com/office/drawing/2014/chart" uri="{C3380CC4-5D6E-409C-BE32-E72D297353CC}">
              <c16:uniqueId val="{00000000-84C6-4661-9D34-57520061C1F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7F9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B6B82"/>
                </a:solidFill>
                <a:latin typeface="Arial"/>
              </a:defRPr>
            </a:pPr>
            <a:r>
              <a:rPr lang="en-US" sz="1100" b="0" i="0" u="none" strike="noStrike">
                <a:solidFill>
                  <a:srgbClr val="5B6B82"/>
                </a:solidFill>
                <a:latin typeface="Arial"/>
              </a:rPr>
              <a:t>Error on Test Set (kW) — lower is better</a:t>
            </a:r>
          </a:p>
        </c:rich>
      </c:tx>
      <c:overlay val="0"/>
    </c:title>
    <c:autoTitleDeleted val="0"/>
    <c:plotArea>
      <c:layout/>
      <c:barChart>
        <c:barDir val="col"/>
        <c:grouping val="clustered"/>
        <c:varyColors val="0"/>
        <c:ser>
          <c:idx val="0"/>
          <c:order val="0"/>
          <c:tx>
            <c:strRef>
              <c:f>Sheet1!$B$1</c:f>
              <c:strCache>
                <c:ptCount val="1"/>
                <c:pt idx="0">
                  <c:v>ARIMA(1,0,1)</c:v>
                </c:pt>
              </c:strCache>
            </c:strRef>
          </c:tx>
          <c:spPr>
            <a:solidFill>
              <a:srgbClr val="A9B7CC"/>
            </a:solidFill>
            <a:effectLst/>
          </c:spPr>
          <c:invertIfNegative val="0"/>
          <c:dLbls>
            <c:numFmt formatCode="#,##0" sourceLinked="0"/>
            <c:spPr>
              <a:noFill/>
              <a:ln>
                <a:noFill/>
              </a:ln>
              <a:effectLst/>
            </c:spPr>
            <c:txPr>
              <a:bodyPr/>
              <a:lstStyle/>
              <a:p>
                <a:pPr>
                  <a:defRPr sz="9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MAE</c:v>
                </c:pt>
                <c:pt idx="1">
                  <c:v>RMSE</c:v>
                </c:pt>
              </c:strCache>
            </c:strRef>
          </c:cat>
          <c:val>
            <c:numRef>
              <c:f>Sheet1!$B$2:$B$3</c:f>
              <c:numCache>
                <c:formatCode>General</c:formatCode>
                <c:ptCount val="2"/>
                <c:pt idx="0">
                  <c:v>0.624</c:v>
                </c:pt>
                <c:pt idx="1">
                  <c:v>0.73599999999999999</c:v>
                </c:pt>
              </c:numCache>
            </c:numRef>
          </c:val>
          <c:extLst>
            <c:ext xmlns:c16="http://schemas.microsoft.com/office/drawing/2014/chart" uri="{C3380CC4-5D6E-409C-BE32-E72D297353CC}">
              <c16:uniqueId val="{00000000-6C9A-45E9-A65F-BCEB5525F8D1}"/>
            </c:ext>
          </c:extLst>
        </c:ser>
        <c:ser>
          <c:idx val="1"/>
          <c:order val="1"/>
          <c:tx>
            <c:strRef>
              <c:f>Sheet1!$C$1</c:f>
              <c:strCache>
                <c:ptCount val="1"/>
                <c:pt idx="0">
                  <c:v>SARIMA(1,0,1)(1,0,1,24)</c:v>
                </c:pt>
              </c:strCache>
            </c:strRef>
          </c:tx>
          <c:spPr>
            <a:solidFill>
              <a:srgbClr val="00C2D1"/>
            </a:solidFill>
            <a:effectLst/>
          </c:spPr>
          <c:invertIfNegative val="0"/>
          <c:dLbls>
            <c:numFmt formatCode="#,##0" sourceLinked="0"/>
            <c:spPr>
              <a:noFill/>
              <a:ln>
                <a:noFill/>
              </a:ln>
              <a:effectLst/>
            </c:spPr>
            <c:txPr>
              <a:bodyPr/>
              <a:lstStyle/>
              <a:p>
                <a:pPr>
                  <a:defRPr sz="900" b="0" i="0" u="none" strike="noStrike">
                    <a:solidFill>
                      <a:srgbClr val="1B243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MAE</c:v>
                </c:pt>
                <c:pt idx="1">
                  <c:v>RMSE</c:v>
                </c:pt>
              </c:strCache>
            </c:strRef>
          </c:cat>
          <c:val>
            <c:numRef>
              <c:f>Sheet1!$C$2:$C$3</c:f>
              <c:numCache>
                <c:formatCode>General</c:formatCode>
                <c:ptCount val="2"/>
                <c:pt idx="0">
                  <c:v>0.51800000000000002</c:v>
                </c:pt>
                <c:pt idx="1">
                  <c:v>0.68700000000000006</c:v>
                </c:pt>
              </c:numCache>
            </c:numRef>
          </c:val>
          <c:extLst>
            <c:ext xmlns:c16="http://schemas.microsoft.com/office/drawing/2014/chart" uri="{C3380CC4-5D6E-409C-BE32-E72D297353CC}">
              <c16:uniqueId val="{00000001-6C9A-45E9-A65F-BCEB5525F8D1}"/>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846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6502846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6551326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1013416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573109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7/7/2026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429841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7/7/2026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2729179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538662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7226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957210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380774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0606590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719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24389044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070848" y="-1678489"/>
            <a:ext cx="4557470" cy="4760517"/>
          </a:xfrm>
          <a:prstGeom prst="ellipse">
            <a:avLst/>
          </a:prstGeom>
          <a:solidFill>
            <a:srgbClr val="12294D"/>
          </a:solidFill>
          <a:ln/>
        </p:spPr>
      </p:sp>
      <p:sp>
        <p:nvSpPr>
          <p:cNvPr id="6" name="Text 3"/>
          <p:cNvSpPr/>
          <p:nvPr/>
        </p:nvSpPr>
        <p:spPr>
          <a:xfrm>
            <a:off x="448056" y="832104"/>
            <a:ext cx="9144000" cy="1005840"/>
          </a:xfrm>
          <a:prstGeom prst="rect">
            <a:avLst/>
          </a:prstGeom>
          <a:noFill/>
          <a:ln/>
        </p:spPr>
        <p:txBody>
          <a:bodyPr wrap="square" rtlCol="0" anchor="ctr"/>
          <a:lstStyle/>
          <a:p>
            <a:pPr marL="0" indent="0">
              <a:buNone/>
            </a:pPr>
            <a:r>
              <a:rPr lang="en-US" sz="5400" b="1" kern="0" spc="100" dirty="0">
                <a:solidFill>
                  <a:srgbClr val="FFFFFF"/>
                </a:solidFill>
                <a:latin typeface="Cambria" pitchFamily="34" charset="0"/>
                <a:ea typeface="Cambria" pitchFamily="34" charset="-122"/>
                <a:cs typeface="Cambria" pitchFamily="34" charset="-120"/>
              </a:rPr>
              <a:t> </a:t>
            </a:r>
            <a:r>
              <a:rPr lang="en-US" sz="4000" dirty="0">
                <a:solidFill>
                  <a:schemeClr val="bg1"/>
                </a:solidFill>
                <a:latin typeface="Cambria" panose="02040503050406030204" pitchFamily="18" charset="0"/>
                <a:ea typeface="Cambria" panose="02040503050406030204" pitchFamily="18" charset="0"/>
              </a:rPr>
              <a:t>Household Electricity Consumption Analysis, Clustering and Forecasting</a:t>
            </a:r>
            <a:endParaRPr lang="en-US" sz="5400" dirty="0">
              <a:solidFill>
                <a:schemeClr val="bg1"/>
              </a:solidFill>
              <a:latin typeface="Cambria" panose="02040503050406030204" pitchFamily="18" charset="0"/>
              <a:ea typeface="Cambria" panose="02040503050406030204" pitchFamily="18" charset="0"/>
            </a:endParaRPr>
          </a:p>
        </p:txBody>
      </p:sp>
      <p:sp>
        <p:nvSpPr>
          <p:cNvPr id="7" name="Text 4"/>
          <p:cNvSpPr/>
          <p:nvPr/>
        </p:nvSpPr>
        <p:spPr>
          <a:xfrm>
            <a:off x="566928" y="3310128"/>
            <a:ext cx="8503920" cy="731520"/>
          </a:xfrm>
          <a:prstGeom prst="rect">
            <a:avLst/>
          </a:prstGeom>
          <a:noFill/>
          <a:ln/>
        </p:spPr>
        <p:txBody>
          <a:bodyPr wrap="square" rtlCol="0" anchor="ctr"/>
          <a:lstStyle/>
          <a:p>
            <a:pPr marL="0" indent="0">
              <a:buNone/>
            </a:pPr>
            <a:r>
              <a:rPr lang="en-US" sz="1700" dirty="0">
                <a:solidFill>
                  <a:srgbClr val="B9C6DA"/>
                </a:solidFill>
                <a:latin typeface="Calibri" pitchFamily="34" charset="0"/>
                <a:ea typeface="Calibri" pitchFamily="34" charset="-122"/>
                <a:cs typeface="Calibri" pitchFamily="34" charset="-120"/>
              </a:rPr>
              <a:t>Clustering Household Electricity Consumption Patterns, Then Forecasting What Comes Next</a:t>
            </a:r>
            <a:endParaRPr lang="en-US" sz="1700" dirty="0"/>
          </a:p>
        </p:txBody>
      </p:sp>
      <p:sp>
        <p:nvSpPr>
          <p:cNvPr id="8" name="Shape 5"/>
          <p:cNvSpPr/>
          <p:nvPr/>
        </p:nvSpPr>
        <p:spPr>
          <a:xfrm>
            <a:off x="566928" y="4160520"/>
            <a:ext cx="1005840" cy="0"/>
          </a:xfrm>
          <a:prstGeom prst="line">
            <a:avLst/>
          </a:prstGeom>
          <a:noFill/>
          <a:ln w="38100">
            <a:solidFill>
              <a:srgbClr val="00C2D1"/>
            </a:solidFill>
            <a:prstDash val="solid"/>
          </a:ln>
        </p:spPr>
      </p:sp>
      <p:sp>
        <p:nvSpPr>
          <p:cNvPr id="9" name="Text 6"/>
          <p:cNvSpPr/>
          <p:nvPr/>
        </p:nvSpPr>
        <p:spPr>
          <a:xfrm>
            <a:off x="566928" y="4434840"/>
            <a:ext cx="9601200" cy="365760"/>
          </a:xfrm>
          <a:prstGeom prst="rect">
            <a:avLst/>
          </a:prstGeom>
          <a:noFill/>
          <a:ln/>
        </p:spPr>
        <p:txBody>
          <a:bodyPr wrap="square" rtlCol="0" anchor="ctr"/>
          <a:lstStyle/>
          <a:p>
            <a:pPr marL="0" indent="0">
              <a:buNone/>
            </a:pPr>
            <a:r>
              <a:rPr lang="en-US" sz="1300" b="1" dirty="0">
                <a:solidFill>
                  <a:srgbClr val="00C2D1"/>
                </a:solidFill>
                <a:latin typeface="Calibri" pitchFamily="34" charset="0"/>
                <a:ea typeface="Calibri" pitchFamily="34" charset="-122"/>
                <a:cs typeface="Calibri" pitchFamily="34" charset="-120"/>
              </a:rPr>
              <a:t>Unsupervised Learning  </a:t>
            </a:r>
            <a:r>
              <a:rPr lang="en-US" sz="1300" dirty="0">
                <a:solidFill>
                  <a:srgbClr val="B9C6DA"/>
                </a:solidFill>
                <a:latin typeface="Calibri" pitchFamily="34" charset="0"/>
                <a:ea typeface="Calibri" pitchFamily="34" charset="-122"/>
                <a:cs typeface="Calibri" pitchFamily="34" charset="-120"/>
              </a:rPr>
              <a:t>·  K-Means, Hierarchical, GMM on Kernel PCA features</a:t>
            </a:r>
            <a:endParaRPr lang="en-US" sz="1300" dirty="0"/>
          </a:p>
        </p:txBody>
      </p:sp>
      <p:sp>
        <p:nvSpPr>
          <p:cNvPr id="10" name="Text 7"/>
          <p:cNvSpPr/>
          <p:nvPr/>
        </p:nvSpPr>
        <p:spPr>
          <a:xfrm>
            <a:off x="566928" y="4800600"/>
            <a:ext cx="9601200" cy="365760"/>
          </a:xfrm>
          <a:prstGeom prst="rect">
            <a:avLst/>
          </a:prstGeom>
          <a:noFill/>
          <a:ln/>
        </p:spPr>
        <p:txBody>
          <a:bodyPr wrap="square" rtlCol="0" anchor="ctr"/>
          <a:lstStyle/>
          <a:p>
            <a:pPr marL="0" indent="0">
              <a:buNone/>
            </a:pPr>
            <a:r>
              <a:rPr lang="en-US" sz="1300" b="1" dirty="0">
                <a:solidFill>
                  <a:srgbClr val="00C2D1"/>
                </a:solidFill>
                <a:latin typeface="Calibri" pitchFamily="34" charset="0"/>
                <a:ea typeface="Calibri" pitchFamily="34" charset="-122"/>
                <a:cs typeface="Calibri" pitchFamily="34" charset="-120"/>
              </a:rPr>
              <a:t>Time-Series Forecasting  </a:t>
            </a:r>
            <a:r>
              <a:rPr lang="en-US" sz="1300" dirty="0">
                <a:solidFill>
                  <a:srgbClr val="B9C6DA"/>
                </a:solidFill>
                <a:latin typeface="Calibri" pitchFamily="34" charset="0"/>
                <a:ea typeface="Calibri" pitchFamily="34" charset="-122"/>
                <a:cs typeface="Calibri" pitchFamily="34" charset="-120"/>
              </a:rPr>
              <a:t>·  ARIMA, SARIMA modelling of hourly Global Active Power</a:t>
            </a:r>
            <a:endParaRPr lang="en-US" sz="1300" dirty="0"/>
          </a:p>
        </p:txBody>
      </p:sp>
      <p:sp>
        <p:nvSpPr>
          <p:cNvPr id="11" name="Text 8"/>
          <p:cNvSpPr/>
          <p:nvPr/>
        </p:nvSpPr>
        <p:spPr>
          <a:xfrm>
            <a:off x="566928" y="6126480"/>
            <a:ext cx="9144000" cy="320040"/>
          </a:xfrm>
          <a:prstGeom prst="rect">
            <a:avLst/>
          </a:prstGeom>
          <a:noFill/>
          <a:ln/>
        </p:spPr>
        <p:txBody>
          <a:bodyPr wrap="square" rtlCol="0" anchor="ctr"/>
          <a:lstStyle/>
          <a:p>
            <a:pPr marL="0" indent="0">
              <a:buNone/>
            </a:pPr>
            <a:r>
              <a:rPr lang="en-US" sz="1100" dirty="0">
                <a:solidFill>
                  <a:srgbClr val="6C7FA0"/>
                </a:solidFill>
                <a:latin typeface="Calibri" pitchFamily="34" charset="0"/>
                <a:ea typeface="Calibri" pitchFamily="34" charset="-122"/>
                <a:cs typeface="Calibri" pitchFamily="34" charset="-120"/>
              </a:rPr>
              <a:t>Individual Household Electric Power Consumption Dataset  ·  Project Summary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746"/>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F06B54-3F53-4669-A111-096A1E7A4A9A}"/>
              </a:ext>
            </a:extLst>
          </p:cNvPr>
          <p:cNvSpPr txBox="1"/>
          <p:nvPr/>
        </p:nvSpPr>
        <p:spPr>
          <a:xfrm>
            <a:off x="463118" y="381740"/>
            <a:ext cx="11265763" cy="830997"/>
          </a:xfrm>
          <a:prstGeom prst="rect">
            <a:avLst/>
          </a:prstGeom>
          <a:noFill/>
        </p:spPr>
        <p:txBody>
          <a:bodyPr wrap="square" rtlCol="0">
            <a:spAutoFit/>
          </a:bodyPr>
          <a:lstStyle/>
          <a:p>
            <a:r>
              <a:rPr lang="en-US" sz="4800" dirty="0">
                <a:solidFill>
                  <a:schemeClr val="bg1"/>
                </a:solidFill>
                <a:latin typeface="Cambria" panose="02040503050406030204" pitchFamily="18" charset="0"/>
                <a:ea typeface="Cambria" panose="02040503050406030204" pitchFamily="18" charset="0"/>
              </a:rPr>
              <a:t>PROBLEM STATEMENT</a:t>
            </a:r>
          </a:p>
        </p:txBody>
      </p:sp>
      <p:sp>
        <p:nvSpPr>
          <p:cNvPr id="5" name="TextBox 4">
            <a:extLst>
              <a:ext uri="{FF2B5EF4-FFF2-40B4-BE49-F238E27FC236}">
                <a16:creationId xmlns:a16="http://schemas.microsoft.com/office/drawing/2014/main" id="{FE1FA65F-353A-401F-B25F-BE8A8B62D008}"/>
              </a:ext>
            </a:extLst>
          </p:cNvPr>
          <p:cNvSpPr txBox="1"/>
          <p:nvPr/>
        </p:nvSpPr>
        <p:spPr>
          <a:xfrm>
            <a:off x="353625" y="2581676"/>
            <a:ext cx="11327907" cy="3046988"/>
          </a:xfrm>
          <a:prstGeom prst="rect">
            <a:avLst/>
          </a:prstGeom>
          <a:noFill/>
        </p:spPr>
        <p:txBody>
          <a:bodyPr wrap="square" rtlCol="0">
            <a:spAutoFit/>
          </a:bodyPr>
          <a:lstStyle/>
          <a:p>
            <a:r>
              <a:rPr lang="en-US" sz="2400" dirty="0">
                <a:solidFill>
                  <a:schemeClr val="bg1">
                    <a:lumMod val="95000"/>
                  </a:schemeClr>
                </a:solidFill>
                <a:latin typeface="Cambria" panose="02040503050406030204" pitchFamily="18" charset="0"/>
                <a:ea typeface="Cambria" panose="02040503050406030204" pitchFamily="18" charset="0"/>
              </a:rPr>
              <a:t>Household electricity consumption data contains complex usage patterns that are difficult to identify using traditional analytical methods. Without understanding these consumption regimes or accurately forecasting future electricity demand, utility providers may struggle to optimize energy distribution, manage peak demand, and develop targeted energy conservation strategies. This project addresses these challenges by applying machine learning techniques to identify distinct household consumption patterns through clustering and by using time series forecasting to predict future electricity consumption.</a:t>
            </a:r>
          </a:p>
        </p:txBody>
      </p:sp>
    </p:spTree>
    <p:extLst>
      <p:ext uri="{BB962C8B-B14F-4D97-AF65-F5344CB8AC3E}">
        <p14:creationId xmlns:p14="http://schemas.microsoft.com/office/powerpoint/2010/main" val="1224665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Two Questions, One Dataset</a:t>
            </a:r>
            <a:endParaRPr lang="en-US" sz="3000" dirty="0"/>
          </a:p>
        </p:txBody>
      </p:sp>
      <p:sp>
        <p:nvSpPr>
          <p:cNvPr id="4" name="Text 2"/>
          <p:cNvSpPr/>
          <p:nvPr/>
        </p:nvSpPr>
        <p:spPr>
          <a:xfrm>
            <a:off x="548640" y="1325880"/>
            <a:ext cx="10607040" cy="502920"/>
          </a:xfrm>
          <a:prstGeom prst="rect">
            <a:avLst/>
          </a:prstGeom>
          <a:noFill/>
          <a:ln/>
        </p:spPr>
        <p:txBody>
          <a:bodyPr wrap="square" rtlCol="0" anchor="ctr"/>
          <a:lstStyle/>
          <a:p>
            <a:pPr marL="0" indent="0">
              <a:buNone/>
            </a:pPr>
            <a:r>
              <a:rPr lang="en-US" sz="1350" dirty="0">
                <a:solidFill>
                  <a:srgbClr val="5B6B82"/>
                </a:solidFill>
                <a:latin typeface="Calibri" pitchFamily="34" charset="0"/>
                <a:ea typeface="Calibri" pitchFamily="34" charset="-122"/>
                <a:cs typeface="Calibri" pitchFamily="34" charset="-120"/>
              </a:rPr>
              <a:t>Four years of minute-level household power readings hide different usage regimes and a predictable near-term rhythm. This project uncovers both.</a:t>
            </a:r>
            <a:endParaRPr lang="en-US" sz="1350" dirty="0"/>
          </a:p>
        </p:txBody>
      </p:sp>
      <p:sp>
        <p:nvSpPr>
          <p:cNvPr id="5" name="Shape 3"/>
          <p:cNvSpPr/>
          <p:nvPr/>
        </p:nvSpPr>
        <p:spPr>
          <a:xfrm>
            <a:off x="548640" y="2148840"/>
            <a:ext cx="5074920" cy="3931920"/>
          </a:xfrm>
          <a:prstGeom prst="roundRect">
            <a:avLst>
              <a:gd name="adj" fmla="val 1860"/>
            </a:avLst>
          </a:prstGeom>
          <a:solidFill>
            <a:srgbClr val="FFFFFF"/>
          </a:solidFill>
          <a:ln/>
          <a:effectLst>
            <a:outerShdw blurRad="101600" dist="38100" dir="5400000" algn="bl" rotWithShape="0">
              <a:srgbClr val="0B1F3A">
                <a:alpha val="10000"/>
              </a:srgbClr>
            </a:outerShdw>
          </a:effectLst>
        </p:spPr>
      </p:sp>
      <p:sp>
        <p:nvSpPr>
          <p:cNvPr id="6" name="Shape 4"/>
          <p:cNvSpPr/>
          <p:nvPr/>
        </p:nvSpPr>
        <p:spPr>
          <a:xfrm>
            <a:off x="868680" y="2514600"/>
            <a:ext cx="640080" cy="640080"/>
          </a:xfrm>
          <a:prstGeom prst="ellipse">
            <a:avLst/>
          </a:prstGeom>
          <a:solidFill>
            <a:srgbClr val="E7FBFC"/>
          </a:solidFill>
          <a:ln/>
        </p:spPr>
      </p:sp>
      <p:pic>
        <p:nvPicPr>
          <p:cNvPr id="7" name="Image 0" descr="preencoded.png"/>
          <p:cNvPicPr>
            <a:picLocks noChangeAspect="1"/>
          </p:cNvPicPr>
          <p:nvPr/>
        </p:nvPicPr>
        <p:blipFill>
          <a:blip r:embed="rId3"/>
          <a:stretch>
            <a:fillRect/>
          </a:stretch>
        </p:blipFill>
        <p:spPr>
          <a:xfrm>
            <a:off x="1035101" y="2681021"/>
            <a:ext cx="307238" cy="307238"/>
          </a:xfrm>
          <a:prstGeom prst="rect">
            <a:avLst/>
          </a:prstGeom>
        </p:spPr>
      </p:pic>
      <p:sp>
        <p:nvSpPr>
          <p:cNvPr id="8" name="Text 5"/>
          <p:cNvSpPr/>
          <p:nvPr/>
        </p:nvSpPr>
        <p:spPr>
          <a:xfrm>
            <a:off x="1645920" y="2560320"/>
            <a:ext cx="3657600" cy="457200"/>
          </a:xfrm>
          <a:prstGeom prst="rect">
            <a:avLst/>
          </a:prstGeom>
          <a:noFill/>
          <a:ln/>
        </p:spPr>
        <p:txBody>
          <a:bodyPr wrap="square" rtlCol="0" anchor="ctr"/>
          <a:lstStyle/>
          <a:p>
            <a:pPr marL="0" indent="0">
              <a:buNone/>
            </a:pPr>
            <a:r>
              <a:rPr lang="en-US" sz="1900" b="1" dirty="0">
                <a:solidFill>
                  <a:srgbClr val="1B2430"/>
                </a:solidFill>
                <a:latin typeface="Cambria" pitchFamily="34" charset="0"/>
                <a:ea typeface="Cambria" pitchFamily="34" charset="-122"/>
                <a:cs typeface="Cambria" pitchFamily="34" charset="-120"/>
              </a:rPr>
              <a:t>1. Clustering</a:t>
            </a:r>
            <a:endParaRPr lang="en-US" sz="1900" dirty="0"/>
          </a:p>
        </p:txBody>
      </p:sp>
      <p:sp>
        <p:nvSpPr>
          <p:cNvPr id="9" name="Text 6"/>
          <p:cNvSpPr/>
          <p:nvPr/>
        </p:nvSpPr>
        <p:spPr>
          <a:xfrm>
            <a:off x="868680" y="3383280"/>
            <a:ext cx="4434840" cy="640080"/>
          </a:xfrm>
          <a:prstGeom prst="rect">
            <a:avLst/>
          </a:prstGeom>
          <a:noFill/>
          <a:ln/>
        </p:spPr>
        <p:txBody>
          <a:bodyPr wrap="square" rtlCol="0" anchor="ctr"/>
          <a:lstStyle/>
          <a:p>
            <a:pPr marL="0" indent="0">
              <a:buNone/>
            </a:pPr>
            <a:r>
              <a:rPr lang="en-US" sz="1250" dirty="0">
                <a:solidFill>
                  <a:srgbClr val="5B6B82"/>
                </a:solidFill>
                <a:latin typeface="Calibri" pitchFamily="34" charset="0"/>
                <a:ea typeface="Calibri" pitchFamily="34" charset="-122"/>
                <a:cs typeface="Calibri" pitchFamily="34" charset="-120"/>
              </a:rPr>
              <a:t>What distinct electricity consumption regimes exist in the household's behaviour?</a:t>
            </a:r>
            <a:endParaRPr lang="en-US" sz="1250" dirty="0"/>
          </a:p>
        </p:txBody>
      </p:sp>
      <p:sp>
        <p:nvSpPr>
          <p:cNvPr id="10" name="Text 7"/>
          <p:cNvSpPr/>
          <p:nvPr/>
        </p:nvSpPr>
        <p:spPr>
          <a:xfrm>
            <a:off x="868680" y="4114800"/>
            <a:ext cx="4434840" cy="457200"/>
          </a:xfrm>
          <a:prstGeom prst="rect">
            <a:avLst/>
          </a:prstGeom>
          <a:noFill/>
          <a:ln/>
        </p:spPr>
        <p:txBody>
          <a:bodyPr wrap="square" rtlCol="0" anchor="ctr"/>
          <a:lstStyle/>
          <a:p>
            <a:pPr marL="342900" indent="-342900">
              <a:buSzPct val="100000"/>
              <a:buChar char="•"/>
            </a:pPr>
            <a:r>
              <a:rPr lang="en-US" sz="1200" dirty="0">
                <a:solidFill>
                  <a:srgbClr val="1B2430"/>
                </a:solidFill>
                <a:latin typeface="Calibri" pitchFamily="34" charset="0"/>
                <a:ea typeface="Calibri" pitchFamily="34" charset="-122"/>
                <a:cs typeface="Calibri" pitchFamily="34" charset="-120"/>
              </a:rPr>
              <a:t>Reduce 7 correlated features with PCA &amp; Kernel PCA</a:t>
            </a:r>
            <a:endParaRPr lang="en-US" sz="1200" dirty="0"/>
          </a:p>
        </p:txBody>
      </p:sp>
      <p:sp>
        <p:nvSpPr>
          <p:cNvPr id="11" name="Text 8"/>
          <p:cNvSpPr/>
          <p:nvPr/>
        </p:nvSpPr>
        <p:spPr>
          <a:xfrm>
            <a:off x="868680" y="4617720"/>
            <a:ext cx="4434840" cy="457200"/>
          </a:xfrm>
          <a:prstGeom prst="rect">
            <a:avLst/>
          </a:prstGeom>
          <a:noFill/>
          <a:ln/>
        </p:spPr>
        <p:txBody>
          <a:bodyPr wrap="square" rtlCol="0" anchor="ctr"/>
          <a:lstStyle/>
          <a:p>
            <a:pPr marL="342900" indent="-342900">
              <a:buSzPct val="100000"/>
              <a:buChar char="•"/>
            </a:pPr>
            <a:r>
              <a:rPr lang="en-US" sz="1200" dirty="0">
                <a:solidFill>
                  <a:srgbClr val="1B2430"/>
                </a:solidFill>
                <a:latin typeface="Calibri" pitchFamily="34" charset="0"/>
                <a:ea typeface="Calibri" pitchFamily="34" charset="-122"/>
                <a:cs typeface="Calibri" pitchFamily="34" charset="-120"/>
              </a:rPr>
              <a:t>Compare K-Means, Hierarchical &amp; Gaussian Mixture</a:t>
            </a:r>
            <a:endParaRPr lang="en-US" sz="1200" dirty="0"/>
          </a:p>
        </p:txBody>
      </p:sp>
      <p:sp>
        <p:nvSpPr>
          <p:cNvPr id="12" name="Text 9"/>
          <p:cNvSpPr/>
          <p:nvPr/>
        </p:nvSpPr>
        <p:spPr>
          <a:xfrm>
            <a:off x="868680" y="5120640"/>
            <a:ext cx="4434840" cy="457200"/>
          </a:xfrm>
          <a:prstGeom prst="rect">
            <a:avLst/>
          </a:prstGeom>
          <a:noFill/>
          <a:ln/>
        </p:spPr>
        <p:txBody>
          <a:bodyPr wrap="square" rtlCol="0" anchor="ctr"/>
          <a:lstStyle/>
          <a:p>
            <a:pPr marL="342900" indent="-342900">
              <a:buSzPct val="100000"/>
              <a:buChar char="•"/>
            </a:pPr>
            <a:r>
              <a:rPr lang="en-US" sz="1200" dirty="0">
                <a:solidFill>
                  <a:srgbClr val="1B2430"/>
                </a:solidFill>
                <a:latin typeface="Calibri" pitchFamily="34" charset="0"/>
                <a:ea typeface="Calibri" pitchFamily="34" charset="-122"/>
                <a:cs typeface="Calibri" pitchFamily="34" charset="-120"/>
              </a:rPr>
              <a:t>Label clusters as Very Low → High usage regimes</a:t>
            </a:r>
            <a:endParaRPr lang="en-US" sz="1200" dirty="0"/>
          </a:p>
        </p:txBody>
      </p:sp>
      <p:sp>
        <p:nvSpPr>
          <p:cNvPr id="13" name="Shape 10"/>
          <p:cNvSpPr/>
          <p:nvPr/>
        </p:nvSpPr>
        <p:spPr>
          <a:xfrm>
            <a:off x="6080760" y="2148840"/>
            <a:ext cx="5074920" cy="3931920"/>
          </a:xfrm>
          <a:prstGeom prst="roundRect">
            <a:avLst>
              <a:gd name="adj" fmla="val 1860"/>
            </a:avLst>
          </a:prstGeom>
          <a:solidFill>
            <a:srgbClr val="FFFFFF"/>
          </a:solidFill>
          <a:ln/>
          <a:effectLst>
            <a:outerShdw blurRad="101600" dist="38100" dir="5400000" algn="bl" rotWithShape="0">
              <a:srgbClr val="0B1F3A">
                <a:alpha val="10000"/>
              </a:srgbClr>
            </a:outerShdw>
          </a:effectLst>
        </p:spPr>
      </p:sp>
      <p:sp>
        <p:nvSpPr>
          <p:cNvPr id="14" name="Shape 11"/>
          <p:cNvSpPr/>
          <p:nvPr/>
        </p:nvSpPr>
        <p:spPr>
          <a:xfrm>
            <a:off x="6400800" y="2514600"/>
            <a:ext cx="640080" cy="640080"/>
          </a:xfrm>
          <a:prstGeom prst="ellipse">
            <a:avLst/>
          </a:prstGeom>
          <a:solidFill>
            <a:srgbClr val="E7FBFC"/>
          </a:solidFill>
          <a:ln/>
        </p:spPr>
      </p:sp>
      <p:pic>
        <p:nvPicPr>
          <p:cNvPr id="15" name="Image 1" descr="preencoded.png"/>
          <p:cNvPicPr>
            <a:picLocks noChangeAspect="1"/>
          </p:cNvPicPr>
          <p:nvPr/>
        </p:nvPicPr>
        <p:blipFill>
          <a:blip r:embed="rId4"/>
          <a:stretch>
            <a:fillRect/>
          </a:stretch>
        </p:blipFill>
        <p:spPr>
          <a:xfrm>
            <a:off x="6567221" y="2681021"/>
            <a:ext cx="307238" cy="307238"/>
          </a:xfrm>
          <a:prstGeom prst="rect">
            <a:avLst/>
          </a:prstGeom>
        </p:spPr>
      </p:pic>
      <p:sp>
        <p:nvSpPr>
          <p:cNvPr id="16" name="Text 12"/>
          <p:cNvSpPr/>
          <p:nvPr/>
        </p:nvSpPr>
        <p:spPr>
          <a:xfrm>
            <a:off x="7178040" y="2560320"/>
            <a:ext cx="3657600" cy="457200"/>
          </a:xfrm>
          <a:prstGeom prst="rect">
            <a:avLst/>
          </a:prstGeom>
          <a:noFill/>
          <a:ln/>
        </p:spPr>
        <p:txBody>
          <a:bodyPr wrap="square" rtlCol="0" anchor="ctr"/>
          <a:lstStyle/>
          <a:p>
            <a:pPr marL="0" indent="0">
              <a:buNone/>
            </a:pPr>
            <a:r>
              <a:rPr lang="en-US" sz="1900" b="1" dirty="0">
                <a:solidFill>
                  <a:srgbClr val="1B2430"/>
                </a:solidFill>
                <a:latin typeface="Cambria" pitchFamily="34" charset="0"/>
                <a:ea typeface="Cambria" pitchFamily="34" charset="-122"/>
                <a:cs typeface="Cambria" pitchFamily="34" charset="-120"/>
              </a:rPr>
              <a:t>2. Forecasting</a:t>
            </a:r>
            <a:endParaRPr lang="en-US" sz="1900" dirty="0"/>
          </a:p>
        </p:txBody>
      </p:sp>
      <p:sp>
        <p:nvSpPr>
          <p:cNvPr id="17" name="Text 13"/>
          <p:cNvSpPr/>
          <p:nvPr/>
        </p:nvSpPr>
        <p:spPr>
          <a:xfrm>
            <a:off x="6400800" y="3383280"/>
            <a:ext cx="4434840" cy="640080"/>
          </a:xfrm>
          <a:prstGeom prst="rect">
            <a:avLst/>
          </a:prstGeom>
          <a:noFill/>
          <a:ln/>
        </p:spPr>
        <p:txBody>
          <a:bodyPr wrap="square" rtlCol="0" anchor="ctr"/>
          <a:lstStyle/>
          <a:p>
            <a:pPr marL="0" indent="0">
              <a:buNone/>
            </a:pPr>
            <a:r>
              <a:rPr lang="en-US" sz="1250" dirty="0">
                <a:solidFill>
                  <a:srgbClr val="5B6B82"/>
                </a:solidFill>
                <a:latin typeface="Calibri" pitchFamily="34" charset="0"/>
                <a:ea typeface="Calibri" pitchFamily="34" charset="-122"/>
                <a:cs typeface="Calibri" pitchFamily="34" charset="-120"/>
              </a:rPr>
              <a:t>Given the historical pattern, what will Global Active Power look like next?</a:t>
            </a:r>
            <a:endParaRPr lang="en-US" sz="1250" dirty="0"/>
          </a:p>
        </p:txBody>
      </p:sp>
      <p:sp>
        <p:nvSpPr>
          <p:cNvPr id="18" name="Text 14"/>
          <p:cNvSpPr/>
          <p:nvPr/>
        </p:nvSpPr>
        <p:spPr>
          <a:xfrm>
            <a:off x="6400800" y="4114800"/>
            <a:ext cx="4434840" cy="457200"/>
          </a:xfrm>
          <a:prstGeom prst="rect">
            <a:avLst/>
          </a:prstGeom>
          <a:noFill/>
          <a:ln/>
        </p:spPr>
        <p:txBody>
          <a:bodyPr wrap="square" rtlCol="0" anchor="ctr"/>
          <a:lstStyle/>
          <a:p>
            <a:pPr marL="342900" indent="-342900">
              <a:buSzPct val="100000"/>
              <a:buChar char="•"/>
            </a:pPr>
            <a:r>
              <a:rPr lang="en-US" sz="1200" dirty="0">
                <a:solidFill>
                  <a:srgbClr val="1B2430"/>
                </a:solidFill>
                <a:latin typeface="Calibri" pitchFamily="34" charset="0"/>
                <a:ea typeface="Calibri" pitchFamily="34" charset="-122"/>
                <a:cs typeface="Calibri" pitchFamily="34" charset="-120"/>
              </a:rPr>
              <a:t>Test stationarity (ADF) and seasonality (STL)</a:t>
            </a:r>
            <a:endParaRPr lang="en-US" sz="1200" dirty="0"/>
          </a:p>
        </p:txBody>
      </p:sp>
      <p:sp>
        <p:nvSpPr>
          <p:cNvPr id="19" name="Text 15"/>
          <p:cNvSpPr/>
          <p:nvPr/>
        </p:nvSpPr>
        <p:spPr>
          <a:xfrm>
            <a:off x="6400800" y="4617720"/>
            <a:ext cx="4434840" cy="457200"/>
          </a:xfrm>
          <a:prstGeom prst="rect">
            <a:avLst/>
          </a:prstGeom>
          <a:noFill/>
          <a:ln/>
        </p:spPr>
        <p:txBody>
          <a:bodyPr wrap="square" rtlCol="0" anchor="ctr"/>
          <a:lstStyle/>
          <a:p>
            <a:pPr marL="342900" indent="-342900">
              <a:buSzPct val="100000"/>
              <a:buChar char="•"/>
            </a:pPr>
            <a:r>
              <a:rPr lang="en-US" sz="1200" dirty="0">
                <a:solidFill>
                  <a:srgbClr val="1B2430"/>
                </a:solidFill>
                <a:latin typeface="Calibri" pitchFamily="34" charset="0"/>
                <a:ea typeface="Calibri" pitchFamily="34" charset="-122"/>
                <a:cs typeface="Calibri" pitchFamily="34" charset="-120"/>
              </a:rPr>
              <a:t>Fit and compare ARIMA vs. SARIMA(1,0,1)(1,0,1,24)</a:t>
            </a:r>
            <a:endParaRPr lang="en-US" sz="1200" dirty="0"/>
          </a:p>
        </p:txBody>
      </p:sp>
      <p:sp>
        <p:nvSpPr>
          <p:cNvPr id="20" name="Text 16"/>
          <p:cNvSpPr/>
          <p:nvPr/>
        </p:nvSpPr>
        <p:spPr>
          <a:xfrm>
            <a:off x="6400800" y="5120640"/>
            <a:ext cx="4434840" cy="457200"/>
          </a:xfrm>
          <a:prstGeom prst="rect">
            <a:avLst/>
          </a:prstGeom>
          <a:noFill/>
          <a:ln/>
        </p:spPr>
        <p:txBody>
          <a:bodyPr wrap="square" rtlCol="0" anchor="ctr"/>
          <a:lstStyle/>
          <a:p>
            <a:pPr marL="342900" indent="-342900">
              <a:buSzPct val="100000"/>
              <a:buChar char="•"/>
            </a:pPr>
            <a:r>
              <a:rPr lang="en-US" sz="1200" dirty="0">
                <a:solidFill>
                  <a:srgbClr val="1B2430"/>
                </a:solidFill>
                <a:latin typeface="Calibri" pitchFamily="34" charset="0"/>
                <a:ea typeface="Calibri" pitchFamily="34" charset="-122"/>
                <a:cs typeface="Calibri" pitchFamily="34" charset="-120"/>
              </a:rPr>
              <a:t>Validate the winning model with residual diagnostics</a:t>
            </a:r>
            <a:endParaRPr lang="en-US" sz="1200" dirty="0"/>
          </a:p>
        </p:txBody>
      </p:sp>
      <p:sp>
        <p:nvSpPr>
          <p:cNvPr id="21" name="Text 17"/>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From Minute-Level Readings to a Clean Hourly Series</a:t>
            </a:r>
            <a:endParaRPr lang="en-US" sz="3000" dirty="0"/>
          </a:p>
        </p:txBody>
      </p:sp>
      <p:sp>
        <p:nvSpPr>
          <p:cNvPr id="4" name="Shape 2"/>
          <p:cNvSpPr/>
          <p:nvPr/>
        </p:nvSpPr>
        <p:spPr>
          <a:xfrm>
            <a:off x="548640" y="2103120"/>
            <a:ext cx="2542032" cy="3749040"/>
          </a:xfrm>
          <a:prstGeom prst="roundRect">
            <a:avLst>
              <a:gd name="adj" fmla="val 2878"/>
            </a:avLst>
          </a:prstGeom>
          <a:solidFill>
            <a:srgbClr val="FFFFFF"/>
          </a:solidFill>
          <a:ln/>
          <a:effectLst>
            <a:outerShdw blurRad="101600" dist="38100" dir="5400000" algn="bl" rotWithShape="0">
              <a:srgbClr val="0B1F3A">
                <a:alpha val="10000"/>
              </a:srgbClr>
            </a:outerShdw>
          </a:effectLst>
        </p:spPr>
      </p:sp>
      <p:sp>
        <p:nvSpPr>
          <p:cNvPr id="5" name="Shape 3"/>
          <p:cNvSpPr/>
          <p:nvPr/>
        </p:nvSpPr>
        <p:spPr>
          <a:xfrm>
            <a:off x="804672" y="2395728"/>
            <a:ext cx="566928" cy="566928"/>
          </a:xfrm>
          <a:prstGeom prst="ellipse">
            <a:avLst/>
          </a:prstGeom>
          <a:solidFill>
            <a:srgbClr val="E7FBFC"/>
          </a:solidFill>
          <a:ln/>
        </p:spPr>
      </p:sp>
      <p:pic>
        <p:nvPicPr>
          <p:cNvPr id="6" name="Image 0" descr="preencoded.png"/>
          <p:cNvPicPr>
            <a:picLocks noChangeAspect="1"/>
          </p:cNvPicPr>
          <p:nvPr/>
        </p:nvPicPr>
        <p:blipFill>
          <a:blip r:embed="rId3"/>
          <a:stretch>
            <a:fillRect/>
          </a:stretch>
        </p:blipFill>
        <p:spPr>
          <a:xfrm>
            <a:off x="952073" y="2543129"/>
            <a:ext cx="272125" cy="272125"/>
          </a:xfrm>
          <a:prstGeom prst="rect">
            <a:avLst/>
          </a:prstGeom>
        </p:spPr>
      </p:pic>
      <p:sp>
        <p:nvSpPr>
          <p:cNvPr id="7" name="Text 4"/>
          <p:cNvSpPr/>
          <p:nvPr/>
        </p:nvSpPr>
        <p:spPr>
          <a:xfrm>
            <a:off x="804672" y="3154680"/>
            <a:ext cx="2029968" cy="365760"/>
          </a:xfrm>
          <a:prstGeom prst="rect">
            <a:avLst/>
          </a:prstGeom>
          <a:noFill/>
          <a:ln/>
        </p:spPr>
        <p:txBody>
          <a:bodyPr wrap="square"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Raw Data</a:t>
            </a:r>
            <a:endParaRPr lang="en-US" sz="1450" dirty="0"/>
          </a:p>
        </p:txBody>
      </p:sp>
      <p:sp>
        <p:nvSpPr>
          <p:cNvPr id="8" name="Text 5"/>
          <p:cNvSpPr/>
          <p:nvPr/>
        </p:nvSpPr>
        <p:spPr>
          <a:xfrm>
            <a:off x="804672" y="3584448"/>
            <a:ext cx="2029968" cy="2057400"/>
          </a:xfrm>
          <a:prstGeom prst="rect">
            <a:avLst/>
          </a:prstGeom>
          <a:noFill/>
          <a:ln/>
        </p:spPr>
        <p:txBody>
          <a:bodyPr wrap="square" rtlCol="0" anchor="t"/>
          <a:lstStyle/>
          <a:p>
            <a:pPr marL="0" indent="0">
              <a:buNone/>
            </a:pPr>
            <a:r>
              <a:rPr lang="en-US" sz="1080" dirty="0">
                <a:solidFill>
                  <a:srgbClr val="5B6B82"/>
                </a:solidFill>
                <a:latin typeface="Calibri" pitchFamily="34" charset="0"/>
                <a:ea typeface="Calibri" pitchFamily="34" charset="-122"/>
                <a:cs typeface="Calibri" pitchFamily="34" charset="-120"/>
              </a:rPr>
              <a:t>2,075,259 minute-level readings (Dec 2006 – Nov 2010), 7 numeric power &amp; sub-metering features, loaded from the UCI household power archive.</a:t>
            </a:r>
            <a:endParaRPr lang="en-US" sz="1080" dirty="0"/>
          </a:p>
        </p:txBody>
      </p:sp>
      <p:sp>
        <p:nvSpPr>
          <p:cNvPr id="9" name="Shape 6"/>
          <p:cNvSpPr/>
          <p:nvPr/>
        </p:nvSpPr>
        <p:spPr>
          <a:xfrm>
            <a:off x="3236976" y="2103120"/>
            <a:ext cx="2542032" cy="3749040"/>
          </a:xfrm>
          <a:prstGeom prst="roundRect">
            <a:avLst>
              <a:gd name="adj" fmla="val 2878"/>
            </a:avLst>
          </a:prstGeom>
          <a:solidFill>
            <a:srgbClr val="FFFFFF"/>
          </a:solidFill>
          <a:ln/>
          <a:effectLst>
            <a:outerShdw blurRad="101600" dist="38100" dir="5400000" algn="bl" rotWithShape="0">
              <a:srgbClr val="0B1F3A">
                <a:alpha val="10000"/>
              </a:srgbClr>
            </a:outerShdw>
          </a:effectLst>
        </p:spPr>
      </p:sp>
      <p:sp>
        <p:nvSpPr>
          <p:cNvPr id="10" name="Shape 7"/>
          <p:cNvSpPr/>
          <p:nvPr/>
        </p:nvSpPr>
        <p:spPr>
          <a:xfrm>
            <a:off x="3493008" y="2395728"/>
            <a:ext cx="566928" cy="566928"/>
          </a:xfrm>
          <a:prstGeom prst="ellipse">
            <a:avLst/>
          </a:prstGeom>
          <a:solidFill>
            <a:srgbClr val="E7FBFC"/>
          </a:solidFill>
          <a:ln/>
        </p:spPr>
      </p:sp>
      <p:pic>
        <p:nvPicPr>
          <p:cNvPr id="11" name="Image 1" descr="preencoded.png"/>
          <p:cNvPicPr>
            <a:picLocks noChangeAspect="1"/>
          </p:cNvPicPr>
          <p:nvPr/>
        </p:nvPicPr>
        <p:blipFill>
          <a:blip r:embed="rId4"/>
          <a:stretch>
            <a:fillRect/>
          </a:stretch>
        </p:blipFill>
        <p:spPr>
          <a:xfrm>
            <a:off x="3640409" y="2543129"/>
            <a:ext cx="272125" cy="272125"/>
          </a:xfrm>
          <a:prstGeom prst="rect">
            <a:avLst/>
          </a:prstGeom>
        </p:spPr>
      </p:pic>
      <p:sp>
        <p:nvSpPr>
          <p:cNvPr id="12" name="Text 8"/>
          <p:cNvSpPr/>
          <p:nvPr/>
        </p:nvSpPr>
        <p:spPr>
          <a:xfrm>
            <a:off x="3493008" y="3154680"/>
            <a:ext cx="2029968" cy="365760"/>
          </a:xfrm>
          <a:prstGeom prst="rect">
            <a:avLst/>
          </a:prstGeom>
          <a:noFill/>
          <a:ln/>
        </p:spPr>
        <p:txBody>
          <a:bodyPr wrap="square"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Missing Values</a:t>
            </a:r>
            <a:endParaRPr lang="en-US" sz="1450" dirty="0"/>
          </a:p>
        </p:txBody>
      </p:sp>
      <p:sp>
        <p:nvSpPr>
          <p:cNvPr id="13" name="Text 9"/>
          <p:cNvSpPr/>
          <p:nvPr/>
        </p:nvSpPr>
        <p:spPr>
          <a:xfrm>
            <a:off x="3493008" y="3584448"/>
            <a:ext cx="2029968" cy="2057400"/>
          </a:xfrm>
          <a:prstGeom prst="rect">
            <a:avLst/>
          </a:prstGeom>
          <a:noFill/>
          <a:ln/>
        </p:spPr>
        <p:txBody>
          <a:bodyPr wrap="square" rtlCol="0" anchor="t"/>
          <a:lstStyle/>
          <a:p>
            <a:pPr marL="0" indent="0">
              <a:buNone/>
            </a:pPr>
            <a:r>
              <a:rPr lang="en-US" sz="1080" dirty="0">
                <a:solidFill>
                  <a:srgbClr val="5B6B82"/>
                </a:solidFill>
                <a:latin typeface="Calibri" pitchFamily="34" charset="0"/>
                <a:ea typeface="Calibri" pitchFamily="34" charset="-122"/>
                <a:cs typeface="Calibri" pitchFamily="34" charset="-120"/>
              </a:rPr>
              <a:t>Gaps filled with time-based interpolation on the datetime index, preserving the underlying temporal pattern rather than a flat fill.</a:t>
            </a:r>
            <a:endParaRPr lang="en-US" sz="1080" dirty="0"/>
          </a:p>
        </p:txBody>
      </p:sp>
      <p:sp>
        <p:nvSpPr>
          <p:cNvPr id="14" name="Shape 10"/>
          <p:cNvSpPr/>
          <p:nvPr/>
        </p:nvSpPr>
        <p:spPr>
          <a:xfrm>
            <a:off x="5925312" y="2103120"/>
            <a:ext cx="2542032" cy="3749040"/>
          </a:xfrm>
          <a:prstGeom prst="roundRect">
            <a:avLst>
              <a:gd name="adj" fmla="val 2878"/>
            </a:avLst>
          </a:prstGeom>
          <a:solidFill>
            <a:srgbClr val="FFFFFF"/>
          </a:solidFill>
          <a:ln/>
          <a:effectLst>
            <a:outerShdw blurRad="101600" dist="38100" dir="5400000" algn="bl" rotWithShape="0">
              <a:srgbClr val="0B1F3A">
                <a:alpha val="10000"/>
              </a:srgbClr>
            </a:outerShdw>
          </a:effectLst>
        </p:spPr>
      </p:sp>
      <p:sp>
        <p:nvSpPr>
          <p:cNvPr id="15" name="Shape 11"/>
          <p:cNvSpPr/>
          <p:nvPr/>
        </p:nvSpPr>
        <p:spPr>
          <a:xfrm>
            <a:off x="6181344" y="2395728"/>
            <a:ext cx="566928" cy="566928"/>
          </a:xfrm>
          <a:prstGeom prst="ellipse">
            <a:avLst/>
          </a:prstGeom>
          <a:solidFill>
            <a:srgbClr val="E7FBFC"/>
          </a:solidFill>
          <a:ln/>
        </p:spPr>
      </p:sp>
      <p:pic>
        <p:nvPicPr>
          <p:cNvPr id="16" name="Image 2" descr="preencoded.png"/>
          <p:cNvPicPr>
            <a:picLocks noChangeAspect="1"/>
          </p:cNvPicPr>
          <p:nvPr/>
        </p:nvPicPr>
        <p:blipFill>
          <a:blip r:embed="rId5"/>
          <a:stretch>
            <a:fillRect/>
          </a:stretch>
        </p:blipFill>
        <p:spPr>
          <a:xfrm>
            <a:off x="6328745" y="2543129"/>
            <a:ext cx="272125" cy="272125"/>
          </a:xfrm>
          <a:prstGeom prst="rect">
            <a:avLst/>
          </a:prstGeom>
        </p:spPr>
      </p:pic>
      <p:sp>
        <p:nvSpPr>
          <p:cNvPr id="17" name="Text 12"/>
          <p:cNvSpPr/>
          <p:nvPr/>
        </p:nvSpPr>
        <p:spPr>
          <a:xfrm>
            <a:off x="6181344" y="3154680"/>
            <a:ext cx="2029968" cy="365760"/>
          </a:xfrm>
          <a:prstGeom prst="rect">
            <a:avLst/>
          </a:prstGeom>
          <a:noFill/>
          <a:ln/>
        </p:spPr>
        <p:txBody>
          <a:bodyPr wrap="square"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Hourly Resampling</a:t>
            </a:r>
            <a:endParaRPr lang="en-US" sz="1450" dirty="0"/>
          </a:p>
        </p:txBody>
      </p:sp>
      <p:sp>
        <p:nvSpPr>
          <p:cNvPr id="18" name="Text 13"/>
          <p:cNvSpPr/>
          <p:nvPr/>
        </p:nvSpPr>
        <p:spPr>
          <a:xfrm>
            <a:off x="6181344" y="3584448"/>
            <a:ext cx="2029968" cy="2057400"/>
          </a:xfrm>
          <a:prstGeom prst="rect">
            <a:avLst/>
          </a:prstGeom>
          <a:noFill/>
          <a:ln/>
        </p:spPr>
        <p:txBody>
          <a:bodyPr wrap="square" rtlCol="0" anchor="t"/>
          <a:lstStyle/>
          <a:p>
            <a:pPr marL="0" indent="0">
              <a:buNone/>
            </a:pPr>
            <a:r>
              <a:rPr lang="en-US" sz="1080" dirty="0">
                <a:solidFill>
                  <a:srgbClr val="5B6B82"/>
                </a:solidFill>
                <a:latin typeface="Calibri" pitchFamily="34" charset="0"/>
                <a:ea typeface="Calibri" pitchFamily="34" charset="-122"/>
                <a:cs typeface="Calibri" pitchFamily="34" charset="-120"/>
              </a:rPr>
              <a:t>Averaged to hourly frequency for tractable modelling, then checked for outliers via boxplots and feature distributions via histograms.</a:t>
            </a:r>
            <a:endParaRPr lang="en-US" sz="1080" dirty="0"/>
          </a:p>
        </p:txBody>
      </p:sp>
      <p:sp>
        <p:nvSpPr>
          <p:cNvPr id="19" name="Shape 14"/>
          <p:cNvSpPr/>
          <p:nvPr/>
        </p:nvSpPr>
        <p:spPr>
          <a:xfrm>
            <a:off x="8613648" y="2103120"/>
            <a:ext cx="2542032" cy="3749040"/>
          </a:xfrm>
          <a:prstGeom prst="roundRect">
            <a:avLst>
              <a:gd name="adj" fmla="val 2878"/>
            </a:avLst>
          </a:prstGeom>
          <a:solidFill>
            <a:srgbClr val="FFFFFF"/>
          </a:solidFill>
          <a:ln/>
          <a:effectLst>
            <a:outerShdw blurRad="101600" dist="38100" dir="5400000" algn="bl" rotWithShape="0">
              <a:srgbClr val="0B1F3A">
                <a:alpha val="10000"/>
              </a:srgbClr>
            </a:outerShdw>
          </a:effectLst>
        </p:spPr>
      </p:sp>
      <p:sp>
        <p:nvSpPr>
          <p:cNvPr id="20" name="Shape 15"/>
          <p:cNvSpPr/>
          <p:nvPr/>
        </p:nvSpPr>
        <p:spPr>
          <a:xfrm>
            <a:off x="8869680" y="2395728"/>
            <a:ext cx="566928" cy="566928"/>
          </a:xfrm>
          <a:prstGeom prst="ellipse">
            <a:avLst/>
          </a:prstGeom>
          <a:solidFill>
            <a:srgbClr val="E7FBFC"/>
          </a:solidFill>
          <a:ln/>
        </p:spPr>
      </p:sp>
      <p:pic>
        <p:nvPicPr>
          <p:cNvPr id="21" name="Image 3" descr="preencoded.png"/>
          <p:cNvPicPr>
            <a:picLocks noChangeAspect="1"/>
          </p:cNvPicPr>
          <p:nvPr/>
        </p:nvPicPr>
        <p:blipFill>
          <a:blip r:embed="rId6"/>
          <a:stretch>
            <a:fillRect/>
          </a:stretch>
        </p:blipFill>
        <p:spPr>
          <a:xfrm>
            <a:off x="9017081" y="2543129"/>
            <a:ext cx="272125" cy="272125"/>
          </a:xfrm>
          <a:prstGeom prst="rect">
            <a:avLst/>
          </a:prstGeom>
        </p:spPr>
      </p:pic>
      <p:sp>
        <p:nvSpPr>
          <p:cNvPr id="22" name="Text 16"/>
          <p:cNvSpPr/>
          <p:nvPr/>
        </p:nvSpPr>
        <p:spPr>
          <a:xfrm>
            <a:off x="8869680" y="3154680"/>
            <a:ext cx="2029968" cy="365760"/>
          </a:xfrm>
          <a:prstGeom prst="rect">
            <a:avLst/>
          </a:prstGeom>
          <a:noFill/>
          <a:ln/>
        </p:spPr>
        <p:txBody>
          <a:bodyPr wrap="square"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Scaling</a:t>
            </a:r>
            <a:endParaRPr lang="en-US" sz="1450" dirty="0"/>
          </a:p>
        </p:txBody>
      </p:sp>
      <p:sp>
        <p:nvSpPr>
          <p:cNvPr id="23" name="Text 17"/>
          <p:cNvSpPr/>
          <p:nvPr/>
        </p:nvSpPr>
        <p:spPr>
          <a:xfrm>
            <a:off x="8869680" y="3584448"/>
            <a:ext cx="2029968" cy="2057400"/>
          </a:xfrm>
          <a:prstGeom prst="rect">
            <a:avLst/>
          </a:prstGeom>
          <a:noFill/>
          <a:ln/>
        </p:spPr>
        <p:txBody>
          <a:bodyPr wrap="square" rtlCol="0" anchor="t"/>
          <a:lstStyle/>
          <a:p>
            <a:pPr marL="0" indent="0">
              <a:buNone/>
            </a:pPr>
            <a:r>
              <a:rPr lang="en-US" sz="1080" dirty="0">
                <a:solidFill>
                  <a:srgbClr val="5B6B82"/>
                </a:solidFill>
                <a:latin typeface="Calibri" pitchFamily="34" charset="0"/>
                <a:ea typeface="Calibri" pitchFamily="34" charset="-122"/>
                <a:cs typeface="Calibri" pitchFamily="34" charset="-120"/>
              </a:rPr>
              <a:t>All 7 features standardized with StandardScaler so no single variable (e.g. Voltage) dominates distance-based clustering.</a:t>
            </a:r>
            <a:endParaRPr lang="en-US" sz="1080" dirty="0"/>
          </a:p>
        </p:txBody>
      </p:sp>
      <p:sp>
        <p:nvSpPr>
          <p:cNvPr id="24" name="Text 18"/>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FEATURE ENGINEERING</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PCA and Kernel PCA Prepare the Ground for Clustering</a:t>
            </a:r>
            <a:endParaRPr lang="en-US" sz="3000" dirty="0"/>
          </a:p>
        </p:txBody>
      </p:sp>
      <p:sp>
        <p:nvSpPr>
          <p:cNvPr id="4" name="Shape 2"/>
          <p:cNvSpPr/>
          <p:nvPr/>
        </p:nvSpPr>
        <p:spPr>
          <a:xfrm>
            <a:off x="548640" y="2103120"/>
            <a:ext cx="5394960" cy="3749040"/>
          </a:xfrm>
          <a:prstGeom prst="roundRect">
            <a:avLst>
              <a:gd name="adj" fmla="val 1951"/>
            </a:avLst>
          </a:prstGeom>
          <a:solidFill>
            <a:srgbClr val="FFFFFF"/>
          </a:solidFill>
          <a:ln/>
          <a:effectLst>
            <a:outerShdw blurRad="101600" dist="38100" dir="5400000" algn="bl" rotWithShape="0">
              <a:srgbClr val="0B1F3A">
                <a:alpha val="10000"/>
              </a:srgbClr>
            </a:outerShdw>
          </a:effectLst>
        </p:spPr>
      </p:sp>
      <p:sp>
        <p:nvSpPr>
          <p:cNvPr id="5" name="Shape 3"/>
          <p:cNvSpPr/>
          <p:nvPr/>
        </p:nvSpPr>
        <p:spPr>
          <a:xfrm>
            <a:off x="868680" y="2423160"/>
            <a:ext cx="566928" cy="566928"/>
          </a:xfrm>
          <a:prstGeom prst="ellipse">
            <a:avLst/>
          </a:prstGeom>
          <a:solidFill>
            <a:srgbClr val="E7FBFC"/>
          </a:solidFill>
          <a:ln/>
        </p:spPr>
      </p:sp>
      <p:pic>
        <p:nvPicPr>
          <p:cNvPr id="6" name="Image 0" descr="preencoded.png"/>
          <p:cNvPicPr>
            <a:picLocks noChangeAspect="1"/>
          </p:cNvPicPr>
          <p:nvPr/>
        </p:nvPicPr>
        <p:blipFill>
          <a:blip r:embed="rId3"/>
          <a:stretch>
            <a:fillRect/>
          </a:stretch>
        </p:blipFill>
        <p:spPr>
          <a:xfrm>
            <a:off x="1016081" y="2570561"/>
            <a:ext cx="272125" cy="272125"/>
          </a:xfrm>
          <a:prstGeom prst="rect">
            <a:avLst/>
          </a:prstGeom>
        </p:spPr>
      </p:pic>
      <p:sp>
        <p:nvSpPr>
          <p:cNvPr id="7" name="Text 4"/>
          <p:cNvSpPr/>
          <p:nvPr/>
        </p:nvSpPr>
        <p:spPr>
          <a:xfrm>
            <a:off x="1600200" y="2450592"/>
            <a:ext cx="3657600" cy="365760"/>
          </a:xfrm>
          <a:prstGeom prst="rect">
            <a:avLst/>
          </a:prstGeom>
          <a:noFill/>
          <a:ln/>
        </p:spPr>
        <p:txBody>
          <a:bodyPr wrap="square" rtlCol="0" anchor="ctr"/>
          <a:lstStyle/>
          <a:p>
            <a:pPr marL="0" indent="0">
              <a:buNone/>
            </a:pPr>
            <a:r>
              <a:rPr lang="en-US" sz="1600" b="1" dirty="0">
                <a:solidFill>
                  <a:srgbClr val="1B2430"/>
                </a:solidFill>
                <a:latin typeface="Cambria" pitchFamily="34" charset="0"/>
                <a:ea typeface="Cambria" pitchFamily="34" charset="-122"/>
                <a:cs typeface="Cambria" pitchFamily="34" charset="-120"/>
              </a:rPr>
              <a:t>Linear PCA</a:t>
            </a:r>
            <a:endParaRPr lang="en-US" sz="1600" dirty="0"/>
          </a:p>
        </p:txBody>
      </p:sp>
      <p:sp>
        <p:nvSpPr>
          <p:cNvPr id="8" name="Text 5"/>
          <p:cNvSpPr/>
          <p:nvPr/>
        </p:nvSpPr>
        <p:spPr>
          <a:xfrm>
            <a:off x="868680" y="3063240"/>
            <a:ext cx="4754880" cy="1005840"/>
          </a:xfrm>
          <a:prstGeom prst="rect">
            <a:avLst/>
          </a:prstGeom>
          <a:noFill/>
          <a:ln/>
        </p:spPr>
        <p:txBody>
          <a:bodyPr wrap="square" rtlCol="0" anchor="ctr"/>
          <a:lstStyle/>
          <a:p>
            <a:pPr marL="0" indent="0">
              <a:buNone/>
            </a:pPr>
            <a:r>
              <a:rPr lang="en-US" sz="1200" dirty="0">
                <a:solidFill>
                  <a:srgbClr val="5B6B82"/>
                </a:solidFill>
                <a:latin typeface="Calibri" pitchFamily="34" charset="0"/>
                <a:ea typeface="Calibri" pitchFamily="34" charset="-122"/>
                <a:cs typeface="Calibri" pitchFamily="34" charset="-120"/>
              </a:rPr>
              <a:t>Retaining components that explain 95% of variance reduced the feature space from 7 to 5 dimensions, removing redundancy among correlated readings (e.g. power vs. intensity).</a:t>
            </a:r>
            <a:endParaRPr lang="en-US" sz="1200" dirty="0"/>
          </a:p>
        </p:txBody>
      </p:sp>
      <p:sp>
        <p:nvSpPr>
          <p:cNvPr id="9" name="Text 6"/>
          <p:cNvSpPr/>
          <p:nvPr/>
        </p:nvSpPr>
        <p:spPr>
          <a:xfrm>
            <a:off x="868680" y="4160520"/>
            <a:ext cx="2194560" cy="640080"/>
          </a:xfrm>
          <a:prstGeom prst="rect">
            <a:avLst/>
          </a:prstGeom>
          <a:noFill/>
          <a:ln/>
        </p:spPr>
        <p:txBody>
          <a:bodyPr wrap="square" rtlCol="0" anchor="ctr"/>
          <a:lstStyle/>
          <a:p>
            <a:pPr marL="0" indent="0">
              <a:buNone/>
            </a:pPr>
            <a:r>
              <a:rPr lang="en-US" sz="3000" b="1" dirty="0">
                <a:solidFill>
                  <a:srgbClr val="00C2D1"/>
                </a:solidFill>
                <a:latin typeface="Cambria" pitchFamily="34" charset="0"/>
                <a:ea typeface="Cambria" pitchFamily="34" charset="-122"/>
                <a:cs typeface="Cambria" pitchFamily="34" charset="-120"/>
              </a:rPr>
              <a:t>7 → 5</a:t>
            </a:r>
            <a:endParaRPr lang="en-US" sz="3000" dirty="0"/>
          </a:p>
        </p:txBody>
      </p:sp>
      <p:sp>
        <p:nvSpPr>
          <p:cNvPr id="10" name="Text 7"/>
          <p:cNvSpPr/>
          <p:nvPr/>
        </p:nvSpPr>
        <p:spPr>
          <a:xfrm>
            <a:off x="3017520" y="4251960"/>
            <a:ext cx="2651760" cy="548640"/>
          </a:xfrm>
          <a:prstGeom prst="rect">
            <a:avLst/>
          </a:prstGeom>
          <a:noFill/>
          <a:ln/>
        </p:spPr>
        <p:txBody>
          <a:bodyPr wrap="square" rtlCol="0" anchor="ctr"/>
          <a:lstStyle/>
          <a:p>
            <a:pPr marL="0" indent="0">
              <a:buNone/>
            </a:pPr>
            <a:r>
              <a:rPr lang="en-US" sz="1050" dirty="0">
                <a:solidFill>
                  <a:srgbClr val="5B6B82"/>
                </a:solidFill>
                <a:latin typeface="Calibri" pitchFamily="34" charset="0"/>
                <a:ea typeface="Calibri" pitchFamily="34" charset="-122"/>
                <a:cs typeface="Calibri" pitchFamily="34" charset="-120"/>
              </a:rPr>
              <a:t>features retained</a:t>
            </a:r>
            <a:endParaRPr lang="en-US" sz="1050" dirty="0"/>
          </a:p>
          <a:p>
            <a:pPr marL="0" indent="0">
              <a:buNone/>
            </a:pPr>
            <a:r>
              <a:rPr lang="en-US" sz="1050" dirty="0">
                <a:solidFill>
                  <a:srgbClr val="5B6B82"/>
                </a:solidFill>
                <a:latin typeface="Calibri" pitchFamily="34" charset="0"/>
                <a:ea typeface="Calibri" pitchFamily="34" charset="-122"/>
                <a:cs typeface="Calibri" pitchFamily="34" charset="-120"/>
              </a:rPr>
              <a:t>(95% variance)</a:t>
            </a:r>
            <a:endParaRPr lang="en-US" sz="1050" dirty="0"/>
          </a:p>
        </p:txBody>
      </p:sp>
      <p:sp>
        <p:nvSpPr>
          <p:cNvPr id="11" name="Text 8"/>
          <p:cNvSpPr/>
          <p:nvPr/>
        </p:nvSpPr>
        <p:spPr>
          <a:xfrm>
            <a:off x="868680" y="5029200"/>
            <a:ext cx="4754880" cy="548640"/>
          </a:xfrm>
          <a:prstGeom prst="rect">
            <a:avLst/>
          </a:prstGeom>
          <a:noFill/>
          <a:ln/>
        </p:spPr>
        <p:txBody>
          <a:bodyPr wrap="square"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Used for exploratory visualization of consumption structure.</a:t>
            </a:r>
            <a:endParaRPr lang="en-US" sz="1100" dirty="0"/>
          </a:p>
        </p:txBody>
      </p:sp>
      <p:sp>
        <p:nvSpPr>
          <p:cNvPr id="12" name="Shape 9"/>
          <p:cNvSpPr/>
          <p:nvPr/>
        </p:nvSpPr>
        <p:spPr>
          <a:xfrm>
            <a:off x="6217920" y="2103120"/>
            <a:ext cx="5394960" cy="3749040"/>
          </a:xfrm>
          <a:prstGeom prst="roundRect">
            <a:avLst>
              <a:gd name="adj" fmla="val 1951"/>
            </a:avLst>
          </a:prstGeom>
          <a:solidFill>
            <a:srgbClr val="12294D"/>
          </a:solidFill>
          <a:ln/>
          <a:effectLst>
            <a:outerShdw blurRad="101600" dist="38100" dir="5400000" algn="bl" rotWithShape="0">
              <a:srgbClr val="0B1F3A">
                <a:alpha val="10000"/>
              </a:srgbClr>
            </a:outerShdw>
          </a:effectLst>
        </p:spPr>
      </p:sp>
      <p:sp>
        <p:nvSpPr>
          <p:cNvPr id="13" name="Shape 10"/>
          <p:cNvSpPr/>
          <p:nvPr/>
        </p:nvSpPr>
        <p:spPr>
          <a:xfrm>
            <a:off x="6537960" y="2423160"/>
            <a:ext cx="566928" cy="566928"/>
          </a:xfrm>
          <a:prstGeom prst="ellipse">
            <a:avLst/>
          </a:prstGeom>
          <a:solidFill>
            <a:srgbClr val="13456B"/>
          </a:solidFill>
          <a:ln/>
        </p:spPr>
      </p:sp>
      <p:pic>
        <p:nvPicPr>
          <p:cNvPr id="14" name="Image 1" descr="preencoded.png"/>
          <p:cNvPicPr>
            <a:picLocks noChangeAspect="1"/>
          </p:cNvPicPr>
          <p:nvPr/>
        </p:nvPicPr>
        <p:blipFill>
          <a:blip r:embed="rId4"/>
          <a:stretch>
            <a:fillRect/>
          </a:stretch>
        </p:blipFill>
        <p:spPr>
          <a:xfrm>
            <a:off x="6685361" y="2570561"/>
            <a:ext cx="272125" cy="272125"/>
          </a:xfrm>
          <a:prstGeom prst="rect">
            <a:avLst/>
          </a:prstGeom>
        </p:spPr>
      </p:pic>
      <p:sp>
        <p:nvSpPr>
          <p:cNvPr id="15" name="Text 11"/>
          <p:cNvSpPr/>
          <p:nvPr/>
        </p:nvSpPr>
        <p:spPr>
          <a:xfrm>
            <a:off x="7269480" y="2450592"/>
            <a:ext cx="365760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Kernel PCA (RBF)</a:t>
            </a:r>
            <a:endParaRPr lang="en-US" sz="1600" dirty="0"/>
          </a:p>
        </p:txBody>
      </p:sp>
      <p:sp>
        <p:nvSpPr>
          <p:cNvPr id="16" name="Text 12"/>
          <p:cNvSpPr/>
          <p:nvPr/>
        </p:nvSpPr>
        <p:spPr>
          <a:xfrm>
            <a:off x="6537960" y="3063240"/>
            <a:ext cx="4754880" cy="914400"/>
          </a:xfrm>
          <a:prstGeom prst="rect">
            <a:avLst/>
          </a:prstGeom>
          <a:noFill/>
          <a:ln/>
        </p:spPr>
        <p:txBody>
          <a:bodyPr wrap="square" rtlCol="0" anchor="ctr"/>
          <a:lstStyle/>
          <a:p>
            <a:pPr marL="0" indent="0">
              <a:buNone/>
            </a:pPr>
            <a:r>
              <a:rPr lang="en-US" sz="1200" dirty="0">
                <a:solidFill>
                  <a:srgbClr val="C4D2E6"/>
                </a:solidFill>
                <a:latin typeface="Calibri" pitchFamily="34" charset="0"/>
                <a:ea typeface="Calibri" pitchFamily="34" charset="-122"/>
                <a:cs typeface="Calibri" pitchFamily="34" charset="-120"/>
              </a:rPr>
              <a:t>An RBF-kernel projection into 5 nonlinear components captured curved, non-linear structure in usage behaviour that linear PCA could not see.</a:t>
            </a:r>
            <a:endParaRPr lang="en-US" sz="1200" dirty="0"/>
          </a:p>
        </p:txBody>
      </p:sp>
      <p:sp>
        <p:nvSpPr>
          <p:cNvPr id="17" name="Text 13"/>
          <p:cNvSpPr/>
          <p:nvPr/>
        </p:nvSpPr>
        <p:spPr>
          <a:xfrm>
            <a:off x="6537960" y="4114800"/>
            <a:ext cx="4754880" cy="1280160"/>
          </a:xfrm>
          <a:prstGeom prst="rect">
            <a:avLst/>
          </a:prstGeom>
          <a:noFill/>
          <a:ln/>
        </p:spPr>
        <p:txBody>
          <a:bodyPr wrap="square" rtlCol="0" anchor="ctr"/>
          <a:lstStyle/>
          <a:p>
            <a:pPr marL="0" indent="0">
              <a:buNone/>
            </a:pPr>
            <a:r>
              <a:rPr lang="en-US" sz="1250" b="1" dirty="0">
                <a:solidFill>
                  <a:srgbClr val="00C2D1"/>
                </a:solidFill>
                <a:latin typeface="Calibri" pitchFamily="34" charset="0"/>
                <a:ea typeface="Calibri" pitchFamily="34" charset="-122"/>
                <a:cs typeface="Calibri" pitchFamily="34" charset="-120"/>
              </a:rPr>
              <a:t>Selected as the input space for all three clustering algorithms, since it revealed clearer group separation than linear PCA.</a:t>
            </a:r>
            <a:endParaRPr lang="en-US" sz="1250" dirty="0"/>
          </a:p>
        </p:txBody>
      </p:sp>
      <p:sp>
        <p:nvSpPr>
          <p:cNvPr id="18" name="Text 14"/>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CLUSTERING — MODEL SELECTION</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How Many Consumption Regimes Are There?</a:t>
            </a:r>
            <a:endParaRPr lang="en-US" sz="3000" dirty="0"/>
          </a:p>
        </p:txBody>
      </p:sp>
      <p:sp>
        <p:nvSpPr>
          <p:cNvPr id="4" name="Shape 2"/>
          <p:cNvSpPr/>
          <p:nvPr/>
        </p:nvSpPr>
        <p:spPr>
          <a:xfrm>
            <a:off x="548640" y="2103120"/>
            <a:ext cx="5394960" cy="3749040"/>
          </a:xfrm>
          <a:prstGeom prst="roundRect">
            <a:avLst>
              <a:gd name="adj" fmla="val 1951"/>
            </a:avLst>
          </a:prstGeom>
          <a:solidFill>
            <a:srgbClr val="FFFFFF"/>
          </a:solidFill>
          <a:ln/>
          <a:effectLst>
            <a:outerShdw blurRad="101600" dist="38100" dir="5400000" algn="bl" rotWithShape="0">
              <a:srgbClr val="0B1F3A">
                <a:alpha val="10000"/>
              </a:srgbClr>
            </a:outerShdw>
          </a:effectLst>
        </p:spPr>
      </p:sp>
      <p:sp>
        <p:nvSpPr>
          <p:cNvPr id="5" name="Text 3"/>
          <p:cNvSpPr/>
          <p:nvPr/>
        </p:nvSpPr>
        <p:spPr>
          <a:xfrm>
            <a:off x="914400" y="2331720"/>
            <a:ext cx="3657600" cy="365760"/>
          </a:xfrm>
          <a:prstGeom prst="rect">
            <a:avLst/>
          </a:prstGeom>
          <a:noFill/>
          <a:ln/>
        </p:spPr>
        <p:txBody>
          <a:bodyPr wrap="square" rtlCol="0" anchor="ctr"/>
          <a:lstStyle/>
          <a:p>
            <a:pPr marL="0" indent="0">
              <a:buNone/>
            </a:pPr>
            <a:r>
              <a:rPr lang="en-US" sz="1500" b="1" dirty="0">
                <a:solidFill>
                  <a:srgbClr val="1B2430"/>
                </a:solidFill>
                <a:latin typeface="Cambria" pitchFamily="34" charset="0"/>
                <a:ea typeface="Cambria" pitchFamily="34" charset="-122"/>
                <a:cs typeface="Cambria" pitchFamily="34" charset="-120"/>
              </a:rPr>
              <a:t>Elbow Method</a:t>
            </a:r>
            <a:endParaRPr lang="en-US" sz="1500" dirty="0"/>
          </a:p>
        </p:txBody>
      </p:sp>
      <p:sp>
        <p:nvSpPr>
          <p:cNvPr id="7" name="Shape 4"/>
          <p:cNvSpPr/>
          <p:nvPr/>
        </p:nvSpPr>
        <p:spPr>
          <a:xfrm>
            <a:off x="6217920" y="2103120"/>
            <a:ext cx="5394960" cy="3749040"/>
          </a:xfrm>
          <a:prstGeom prst="roundRect">
            <a:avLst>
              <a:gd name="adj" fmla="val 1951"/>
            </a:avLst>
          </a:prstGeom>
          <a:solidFill>
            <a:srgbClr val="FFFFFF"/>
          </a:solidFill>
          <a:ln/>
          <a:effectLst>
            <a:outerShdw blurRad="101600" dist="38100" dir="5400000" algn="bl" rotWithShape="0">
              <a:srgbClr val="0B1F3A">
                <a:alpha val="10000"/>
              </a:srgbClr>
            </a:outerShdw>
          </a:effectLst>
        </p:spPr>
      </p:sp>
      <p:sp>
        <p:nvSpPr>
          <p:cNvPr id="8" name="Text 5"/>
          <p:cNvSpPr/>
          <p:nvPr/>
        </p:nvSpPr>
        <p:spPr>
          <a:xfrm>
            <a:off x="6583680" y="2331720"/>
            <a:ext cx="3657600" cy="365760"/>
          </a:xfrm>
          <a:prstGeom prst="rect">
            <a:avLst/>
          </a:prstGeom>
          <a:noFill/>
          <a:ln/>
        </p:spPr>
        <p:txBody>
          <a:bodyPr wrap="square" rtlCol="0" anchor="ctr"/>
          <a:lstStyle/>
          <a:p>
            <a:pPr marL="0" indent="0">
              <a:buNone/>
            </a:pPr>
            <a:r>
              <a:rPr lang="en-US" sz="1500" b="1" dirty="0">
                <a:solidFill>
                  <a:srgbClr val="1B2430"/>
                </a:solidFill>
                <a:latin typeface="Cambria" pitchFamily="34" charset="0"/>
                <a:ea typeface="Cambria" pitchFamily="34" charset="-122"/>
                <a:cs typeface="Cambria" pitchFamily="34" charset="-120"/>
              </a:rPr>
              <a:t>Silhouette Analysis</a:t>
            </a:r>
            <a:endParaRPr lang="en-US" sz="1500" dirty="0"/>
          </a:p>
        </p:txBody>
      </p:sp>
      <p:sp>
        <p:nvSpPr>
          <p:cNvPr id="10" name="Text 6"/>
          <p:cNvSpPr/>
          <p:nvPr/>
        </p:nvSpPr>
        <p:spPr>
          <a:xfrm>
            <a:off x="548640" y="5989320"/>
            <a:ext cx="11064240" cy="457200"/>
          </a:xfrm>
          <a:prstGeom prst="rect">
            <a:avLst/>
          </a:prstGeom>
          <a:noFill/>
          <a:ln/>
        </p:spPr>
        <p:txBody>
          <a:bodyPr wrap="square" rtlCol="0" anchor="ctr"/>
          <a:lstStyle/>
          <a:p>
            <a:pPr marL="0" indent="0">
              <a:buNone/>
            </a:pPr>
            <a:r>
              <a:rPr lang="en-US" sz="1150" i="1" dirty="0">
                <a:solidFill>
                  <a:srgbClr val="5B6B82"/>
                </a:solidFill>
                <a:latin typeface="Calibri" pitchFamily="34" charset="0"/>
                <a:ea typeface="Calibri" pitchFamily="34" charset="-122"/>
                <a:cs typeface="Calibri" pitchFamily="34" charset="-120"/>
              </a:rPr>
              <a:t>Both diagnostics point to a natural break around k = 6 broad regimes — the final model then splits these further into 6 fine-grained clusters for richer profiling.</a:t>
            </a:r>
            <a:endParaRPr lang="en-US" sz="1150" dirty="0"/>
          </a:p>
        </p:txBody>
      </p:sp>
      <p:sp>
        <p:nvSpPr>
          <p:cNvPr id="11" name="Text 7"/>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5</a:t>
            </a:r>
            <a:endParaRPr lang="en-US" sz="1000" dirty="0"/>
          </a:p>
        </p:txBody>
      </p:sp>
      <p:pic>
        <p:nvPicPr>
          <p:cNvPr id="13" name="Picture 12">
            <a:extLst>
              <a:ext uri="{FF2B5EF4-FFF2-40B4-BE49-F238E27FC236}">
                <a16:creationId xmlns:a16="http://schemas.microsoft.com/office/drawing/2014/main" id="{25857260-9D3E-4945-AB99-133212D649A3}"/>
              </a:ext>
            </a:extLst>
          </p:cNvPr>
          <p:cNvPicPr>
            <a:picLocks noChangeAspect="1"/>
          </p:cNvPicPr>
          <p:nvPr/>
        </p:nvPicPr>
        <p:blipFill>
          <a:blip r:embed="rId3"/>
          <a:stretch>
            <a:fillRect/>
          </a:stretch>
        </p:blipFill>
        <p:spPr>
          <a:xfrm>
            <a:off x="853440" y="2620466"/>
            <a:ext cx="4783880" cy="3003094"/>
          </a:xfrm>
          <a:prstGeom prst="rect">
            <a:avLst/>
          </a:prstGeom>
        </p:spPr>
      </p:pic>
      <p:pic>
        <p:nvPicPr>
          <p:cNvPr id="15" name="Picture 14">
            <a:extLst>
              <a:ext uri="{FF2B5EF4-FFF2-40B4-BE49-F238E27FC236}">
                <a16:creationId xmlns:a16="http://schemas.microsoft.com/office/drawing/2014/main" id="{78B7F089-688D-4645-856F-2EAA699653D7}"/>
              </a:ext>
            </a:extLst>
          </p:cNvPr>
          <p:cNvPicPr>
            <a:picLocks noChangeAspect="1"/>
          </p:cNvPicPr>
          <p:nvPr/>
        </p:nvPicPr>
        <p:blipFill>
          <a:blip r:embed="rId4"/>
          <a:stretch>
            <a:fillRect/>
          </a:stretch>
        </p:blipFill>
        <p:spPr>
          <a:xfrm>
            <a:off x="6419851" y="2793928"/>
            <a:ext cx="5055869" cy="30421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CLUSTERING — ALGORITHM COMPARISON</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Three Algorithms, One Clear Winner</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1920240"/>
        </p:xfrm>
        <a:graphic>
          <a:graphicData uri="http://schemas.openxmlformats.org/drawingml/2006/table">
            <a:tbl>
              <a:tblPr/>
              <a:tblGrid>
                <a:gridCol w="31089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4800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Silhouette Score</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Calinski–Harabasz</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Davies–Bouldin</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80060">
                <a:tc>
                  <a:txBody>
                    <a:bodyPr/>
                    <a:lstStyle/>
                    <a:p>
                      <a:pPr marL="0" indent="0">
                        <a:buNone/>
                      </a:pPr>
                      <a:r>
                        <a:rPr lang="en-US" sz="1250" b="1" dirty="0">
                          <a:solidFill>
                            <a:srgbClr val="000000"/>
                          </a:solidFill>
                          <a:latin typeface="Calibri" pitchFamily="34" charset="0"/>
                          <a:ea typeface="Calibri" pitchFamily="34" charset="-122"/>
                          <a:cs typeface="Calibri" pitchFamily="34" charset="-120"/>
                        </a:rPr>
                        <a:t>K-Means</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7FBFC"/>
                    </a:solidFill>
                  </a:tcPr>
                </a:tc>
                <a:tc>
                  <a:txBody>
                    <a:bodyPr/>
                    <a:lstStyle/>
                    <a:p>
                      <a:pPr marL="0" indent="0" algn="ctr">
                        <a:buNone/>
                      </a:pPr>
                      <a:r>
                        <a:rPr lang="en-US" sz="1250" b="1" dirty="0">
                          <a:solidFill>
                            <a:srgbClr val="0E7C86"/>
                          </a:solidFill>
                          <a:latin typeface="Calibri" pitchFamily="34" charset="0"/>
                          <a:ea typeface="Calibri" pitchFamily="34" charset="-122"/>
                          <a:cs typeface="Calibri" pitchFamily="34" charset="-120"/>
                        </a:rPr>
                        <a:t>0.780  (best)</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7FBFC"/>
                    </a:solidFill>
                  </a:tcPr>
                </a:tc>
                <a:tc>
                  <a:txBody>
                    <a:bodyPr/>
                    <a:lstStyle/>
                    <a:p>
                      <a:pPr marL="0" indent="0" algn="ctr">
                        <a:buNone/>
                      </a:pPr>
                      <a:r>
                        <a:rPr lang="en-US" sz="1250" b="1" dirty="0">
                          <a:solidFill>
                            <a:srgbClr val="0E7C86"/>
                          </a:solidFill>
                          <a:latin typeface="Calibri" pitchFamily="34" charset="0"/>
                          <a:ea typeface="Calibri" pitchFamily="34" charset="-122"/>
                          <a:cs typeface="Calibri" pitchFamily="34" charset="-120"/>
                        </a:rPr>
                        <a:t>15,070.5  (best)</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7FBFC"/>
                    </a:solidFill>
                  </a:tcPr>
                </a:tc>
                <a:tc>
                  <a:txBody>
                    <a:bodyPr/>
                    <a:lstStyle/>
                    <a:p>
                      <a:pPr marL="0" indent="0" algn="ctr">
                        <a:buNone/>
                      </a:pPr>
                      <a:r>
                        <a:rPr lang="en-US" sz="1250" b="1" dirty="0">
                          <a:solidFill>
                            <a:srgbClr val="0E7C86"/>
                          </a:solidFill>
                          <a:latin typeface="Calibri" pitchFamily="34" charset="0"/>
                          <a:ea typeface="Calibri" pitchFamily="34" charset="-122"/>
                          <a:cs typeface="Calibri" pitchFamily="34" charset="-120"/>
                        </a:rPr>
                        <a:t>0.852  (best)</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7FBFC"/>
                    </a:solidFill>
                  </a:tcPr>
                </a:tc>
                <a:extLst>
                  <a:ext uri="{0D108BD9-81ED-4DB2-BD59-A6C34878D82A}">
                    <a16:rowId xmlns:a16="http://schemas.microsoft.com/office/drawing/2014/main" val="10001"/>
                  </a:ext>
                </a:extLst>
              </a:tr>
              <a:tr h="480060">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Hierarchical (Ward)</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50" dirty="0">
                          <a:solidFill>
                            <a:srgbClr val="000000"/>
                          </a:solidFill>
                          <a:latin typeface="Calibri" pitchFamily="34" charset="0"/>
                          <a:ea typeface="Calibri" pitchFamily="34" charset="-122"/>
                          <a:cs typeface="Calibri" pitchFamily="34" charset="-120"/>
                        </a:rPr>
                        <a:t>0.749</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50" dirty="0">
                          <a:solidFill>
                            <a:srgbClr val="000000"/>
                          </a:solidFill>
                          <a:latin typeface="Calibri" pitchFamily="34" charset="0"/>
                          <a:ea typeface="Calibri" pitchFamily="34" charset="-122"/>
                          <a:cs typeface="Calibri" pitchFamily="34" charset="-120"/>
                        </a:rPr>
                        <a:t>11,726.0</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50" dirty="0">
                          <a:solidFill>
                            <a:srgbClr val="000000"/>
                          </a:solidFill>
                          <a:latin typeface="Calibri" pitchFamily="34" charset="0"/>
                          <a:ea typeface="Calibri" pitchFamily="34" charset="-122"/>
                          <a:cs typeface="Calibri" pitchFamily="34" charset="-120"/>
                        </a:rPr>
                        <a:t>1.025</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80060">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Gaussian Mixture</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50" dirty="0">
                          <a:solidFill>
                            <a:srgbClr val="000000"/>
                          </a:solidFill>
                          <a:latin typeface="Calibri" pitchFamily="34" charset="0"/>
                          <a:ea typeface="Calibri" pitchFamily="34" charset="-122"/>
                          <a:cs typeface="Calibri" pitchFamily="34" charset="-120"/>
                        </a:rPr>
                        <a:t>0.552</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50" dirty="0">
                          <a:solidFill>
                            <a:srgbClr val="000000"/>
                          </a:solidFill>
                          <a:latin typeface="Calibri" pitchFamily="34" charset="0"/>
                          <a:ea typeface="Calibri" pitchFamily="34" charset="-122"/>
                          <a:cs typeface="Calibri" pitchFamily="34" charset="-120"/>
                        </a:rPr>
                        <a:t>4,740.6</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50" dirty="0">
                          <a:solidFill>
                            <a:srgbClr val="000000"/>
                          </a:solidFill>
                          <a:latin typeface="Calibri" pitchFamily="34" charset="0"/>
                          <a:ea typeface="Calibri" pitchFamily="34" charset="-122"/>
                          <a:cs typeface="Calibri" pitchFamily="34" charset="-120"/>
                        </a:rPr>
                        <a:t>1.697</a:t>
                      </a:r>
                      <a:endParaRPr lang="en-US" sz="1250" dirty="0">
                        <a:latin typeface="Calibri" charset="0"/>
                        <a:ea typeface="Calibri" charset="0"/>
                        <a:cs typeface="Calibri" charset="0"/>
                      </a:endParaRPr>
                    </a:p>
                  </a:txBody>
                  <a:tcP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3794760"/>
            <a:ext cx="11064240" cy="2148840"/>
          </a:xfrm>
          <a:prstGeom prst="roundRect">
            <a:avLst>
              <a:gd name="adj" fmla="val 3404"/>
            </a:avLst>
          </a:prstGeom>
          <a:solidFill>
            <a:srgbClr val="FFFFFF"/>
          </a:solidFill>
          <a:ln/>
          <a:effectLst>
            <a:outerShdw blurRad="101600" dist="38100" dir="5400000" algn="bl" rotWithShape="0">
              <a:srgbClr val="0B1F3A">
                <a:alpha val="10000"/>
              </a:srgbClr>
            </a:outerShdw>
          </a:effectLst>
        </p:spPr>
      </p:sp>
      <p:sp>
        <p:nvSpPr>
          <p:cNvPr id="6" name="Shape 3"/>
          <p:cNvSpPr/>
          <p:nvPr/>
        </p:nvSpPr>
        <p:spPr>
          <a:xfrm>
            <a:off x="868680" y="4114800"/>
            <a:ext cx="566928" cy="566928"/>
          </a:xfrm>
          <a:prstGeom prst="ellipse">
            <a:avLst/>
          </a:prstGeom>
          <a:solidFill>
            <a:srgbClr val="E7FBFC"/>
          </a:solidFill>
          <a:ln/>
        </p:spPr>
      </p:sp>
      <p:pic>
        <p:nvPicPr>
          <p:cNvPr id="4" name="Image 0" descr="preencoded.png"/>
          <p:cNvPicPr>
            <a:picLocks noChangeAspect="1"/>
          </p:cNvPicPr>
          <p:nvPr/>
        </p:nvPicPr>
        <p:blipFill>
          <a:blip r:embed="rId3"/>
          <a:stretch>
            <a:fillRect/>
          </a:stretch>
        </p:blipFill>
        <p:spPr>
          <a:xfrm>
            <a:off x="1016081" y="4262201"/>
            <a:ext cx="272125" cy="272125"/>
          </a:xfrm>
          <a:prstGeom prst="rect">
            <a:avLst/>
          </a:prstGeom>
        </p:spPr>
      </p:pic>
      <p:sp>
        <p:nvSpPr>
          <p:cNvPr id="8" name="Text 4"/>
          <p:cNvSpPr/>
          <p:nvPr/>
        </p:nvSpPr>
        <p:spPr>
          <a:xfrm>
            <a:off x="1600200" y="4160520"/>
            <a:ext cx="7315200" cy="365760"/>
          </a:xfrm>
          <a:prstGeom prst="rect">
            <a:avLst/>
          </a:prstGeom>
          <a:noFill/>
          <a:ln/>
        </p:spPr>
        <p:txBody>
          <a:bodyPr wrap="square" rtlCol="0" anchor="ctr"/>
          <a:lstStyle/>
          <a:p>
            <a:pPr marL="0" indent="0">
              <a:buNone/>
            </a:pPr>
            <a:r>
              <a:rPr lang="en-US" sz="1600" b="1" dirty="0">
                <a:solidFill>
                  <a:srgbClr val="1B2430"/>
                </a:solidFill>
                <a:latin typeface="Cambria" pitchFamily="34" charset="0"/>
                <a:ea typeface="Cambria" pitchFamily="34" charset="-122"/>
                <a:cs typeface="Cambria" pitchFamily="34" charset="-120"/>
              </a:rPr>
              <a:t>K-Means wins on all three metrics</a:t>
            </a:r>
            <a:endParaRPr lang="en-US" sz="1600" dirty="0"/>
          </a:p>
        </p:txBody>
      </p:sp>
      <p:sp>
        <p:nvSpPr>
          <p:cNvPr id="9" name="Text 5"/>
          <p:cNvSpPr/>
          <p:nvPr/>
        </p:nvSpPr>
        <p:spPr>
          <a:xfrm>
            <a:off x="868680" y="4617720"/>
            <a:ext cx="10332720" cy="1188720"/>
          </a:xfrm>
          <a:prstGeom prst="rect">
            <a:avLst/>
          </a:prstGeom>
          <a:noFill/>
          <a:ln/>
        </p:spPr>
        <p:txBody>
          <a:bodyPr wrap="square" rtlCol="0" anchor="ctr"/>
          <a:lstStyle/>
          <a:p>
            <a:pPr marL="0" indent="0">
              <a:buNone/>
            </a:pPr>
            <a:r>
              <a:rPr lang="en-US" sz="1250" dirty="0">
                <a:solidFill>
                  <a:srgbClr val="5B6B82"/>
                </a:solidFill>
                <a:latin typeface="Calibri" pitchFamily="34" charset="0"/>
                <a:ea typeface="Calibri" pitchFamily="34" charset="-122"/>
                <a:cs typeface="Calibri" pitchFamily="34" charset="-120"/>
              </a:rPr>
              <a:t>Fitted on the Kernel PCA representation with 6 clusters, K-Means produced the most cohesive, well-separated, and compact groupings — highest silhouette and Calinski–Harabasz scores, lowest Davies–Bouldin score. It was selected as the final clustering algorithm.</a:t>
            </a:r>
            <a:endParaRPr lang="en-US" sz="1250" dirty="0"/>
          </a:p>
        </p:txBody>
      </p:sp>
      <p:sp>
        <p:nvSpPr>
          <p:cNvPr id="10" name="Text 6"/>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CLUSTERING - RESULTS</a:t>
            </a:r>
            <a:endParaRPr lang="en-US" sz="1200" dirty="0"/>
          </a:p>
        </p:txBody>
      </p:sp>
      <p:sp>
        <p:nvSpPr>
          <p:cNvPr id="3" name="Text 1"/>
          <p:cNvSpPr/>
          <p:nvPr/>
        </p:nvSpPr>
        <p:spPr>
          <a:xfrm>
            <a:off x="548640" y="822960"/>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Six Clusters Map to Five Named Consumption Regimes</a:t>
            </a:r>
            <a:endParaRPr lang="en-US" sz="3000" dirty="0"/>
          </a:p>
        </p:txBody>
      </p:sp>
      <p:graphicFrame>
        <p:nvGraphicFramePr>
          <p:cNvPr id="4" name="Chart 0"/>
          <p:cNvGraphicFramePr/>
          <p:nvPr/>
        </p:nvGraphicFramePr>
        <p:xfrm>
          <a:off x="548640" y="1554480"/>
          <a:ext cx="54864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355080" y="1554480"/>
            <a:ext cx="5257800" cy="4389120"/>
          </a:xfrm>
          <a:prstGeom prst="roundRect">
            <a:avLst>
              <a:gd name="adj" fmla="val 1667"/>
            </a:avLst>
          </a:prstGeom>
          <a:solidFill>
            <a:srgbClr val="FFFFFF"/>
          </a:solidFill>
          <a:ln/>
          <a:effectLst>
            <a:outerShdw blurRad="101600" dist="38100" dir="5400000" algn="bl" rotWithShape="0">
              <a:srgbClr val="0B1F3A">
                <a:alpha val="10000"/>
              </a:srgbClr>
            </a:outerShdw>
          </a:effectLst>
        </p:spPr>
      </p:sp>
      <p:sp>
        <p:nvSpPr>
          <p:cNvPr id="6" name="Text 3"/>
          <p:cNvSpPr/>
          <p:nvPr/>
        </p:nvSpPr>
        <p:spPr>
          <a:xfrm>
            <a:off x="6675120" y="1783080"/>
            <a:ext cx="4572000" cy="365760"/>
          </a:xfrm>
          <a:prstGeom prst="rect">
            <a:avLst/>
          </a:prstGeom>
          <a:noFill/>
          <a:ln/>
        </p:spPr>
        <p:txBody>
          <a:bodyPr wrap="square" rtlCol="0" anchor="ctr"/>
          <a:lstStyle/>
          <a:p>
            <a:pPr marL="0" indent="0">
              <a:buNone/>
            </a:pPr>
            <a:r>
              <a:rPr lang="en-US" sz="1500" b="1" dirty="0">
                <a:solidFill>
                  <a:srgbClr val="1B2430"/>
                </a:solidFill>
                <a:latin typeface="Cambria" pitchFamily="34" charset="0"/>
                <a:ea typeface="Cambria" pitchFamily="34" charset="-122"/>
                <a:cs typeface="Cambria" pitchFamily="34" charset="-120"/>
              </a:rPr>
              <a:t>Naming the Regimes</a:t>
            </a:r>
            <a:endParaRPr lang="en-US" sz="1500" dirty="0"/>
          </a:p>
        </p:txBody>
      </p:sp>
      <p:sp>
        <p:nvSpPr>
          <p:cNvPr id="7" name="Text 4"/>
          <p:cNvSpPr/>
          <p:nvPr/>
        </p:nvSpPr>
        <p:spPr>
          <a:xfrm>
            <a:off x="6675120" y="2194560"/>
            <a:ext cx="4663440" cy="457200"/>
          </a:xfrm>
          <a:prstGeom prst="rect">
            <a:avLst/>
          </a:prstGeom>
          <a:noFill/>
          <a:ln/>
        </p:spPr>
        <p:txBody>
          <a:bodyPr wrap="square" rtlCol="0" anchor="ctr"/>
          <a:lstStyle/>
          <a:p>
            <a:pPr marL="0" indent="0">
              <a:buNone/>
            </a:pPr>
            <a:r>
              <a:rPr lang="en-US" sz="1150" dirty="0">
                <a:solidFill>
                  <a:srgbClr val="5B6B82"/>
                </a:solidFill>
                <a:latin typeface="Calibri" pitchFamily="34" charset="0"/>
                <a:ea typeface="Calibri" pitchFamily="34" charset="-122"/>
                <a:cs typeface="Calibri" pitchFamily="34" charset="-120"/>
              </a:rPr>
              <a:t>Clusters were ranked by mean Global Active Power and mapped to interpretable labels:</a:t>
            </a:r>
            <a:endParaRPr lang="en-US" sz="1150" dirty="0"/>
          </a:p>
        </p:txBody>
      </p:sp>
      <p:sp>
        <p:nvSpPr>
          <p:cNvPr id="8" name="Text 5"/>
          <p:cNvSpPr/>
          <p:nvPr/>
        </p:nvSpPr>
        <p:spPr>
          <a:xfrm>
            <a:off x="6675120" y="2697480"/>
            <a:ext cx="1417320" cy="384048"/>
          </a:xfrm>
          <a:prstGeom prst="rect">
            <a:avLst/>
          </a:prstGeom>
          <a:noFill/>
          <a:ln/>
        </p:spPr>
        <p:txBody>
          <a:bodyPr wrap="square" rtlCol="0" anchor="ctr"/>
          <a:lstStyle/>
          <a:p>
            <a:pPr marL="0" indent="0">
              <a:buNone/>
            </a:pPr>
            <a:r>
              <a:rPr lang="en-US" sz="1100" b="1" dirty="0">
                <a:solidFill>
                  <a:srgbClr val="1B2430"/>
                </a:solidFill>
                <a:latin typeface="Calibri" pitchFamily="34" charset="0"/>
                <a:ea typeface="Calibri" pitchFamily="34" charset="-122"/>
                <a:cs typeface="Calibri" pitchFamily="34" charset="-120"/>
              </a:rPr>
              <a:t>Cluster 0</a:t>
            </a:r>
            <a:endParaRPr lang="en-US" sz="1100" dirty="0"/>
          </a:p>
        </p:txBody>
      </p:sp>
      <p:sp>
        <p:nvSpPr>
          <p:cNvPr id="9" name="Text 6"/>
          <p:cNvSpPr/>
          <p:nvPr/>
        </p:nvSpPr>
        <p:spPr>
          <a:xfrm>
            <a:off x="8092440" y="2697480"/>
            <a:ext cx="1371600" cy="384048"/>
          </a:xfrm>
          <a:prstGeom prst="rect">
            <a:avLst/>
          </a:prstGeom>
          <a:noFill/>
          <a:ln/>
        </p:spPr>
        <p:txBody>
          <a:bodyPr wrap="square" rtlCol="0" anchor="ctr"/>
          <a:lstStyle/>
          <a:p>
            <a:pPr marL="0" indent="0">
              <a:buNone/>
            </a:pPr>
            <a:r>
              <a:rPr lang="en-US" sz="1100" b="1" dirty="0">
                <a:solidFill>
                  <a:srgbClr val="00C2D1"/>
                </a:solidFill>
                <a:latin typeface="Calibri" pitchFamily="34" charset="0"/>
                <a:ea typeface="Calibri" pitchFamily="34" charset="-122"/>
                <a:cs typeface="Calibri" pitchFamily="34" charset="-120"/>
              </a:rPr>
              <a:t>High</a:t>
            </a:r>
            <a:endParaRPr lang="en-US" sz="1100" dirty="0"/>
          </a:p>
        </p:txBody>
      </p:sp>
      <p:sp>
        <p:nvSpPr>
          <p:cNvPr id="10" name="Text 7"/>
          <p:cNvSpPr/>
          <p:nvPr/>
        </p:nvSpPr>
        <p:spPr>
          <a:xfrm>
            <a:off x="9418320" y="2697480"/>
            <a:ext cx="2377440" cy="384048"/>
          </a:xfrm>
          <a:prstGeom prst="rect">
            <a:avLst/>
          </a:prstGeom>
          <a:noFill/>
          <a:ln/>
        </p:spPr>
        <p:txBody>
          <a:bodyPr wrap="square" rtlCol="0" anchor="ctr"/>
          <a:lstStyle/>
          <a:p>
            <a:pPr marL="0" indent="0">
              <a:buNone/>
            </a:pPr>
            <a:r>
              <a:rPr lang="en-US" sz="980" dirty="0">
                <a:solidFill>
                  <a:srgbClr val="5B6B82"/>
                </a:solidFill>
                <a:latin typeface="Calibri" pitchFamily="34" charset="0"/>
                <a:ea typeface="Calibri" pitchFamily="34" charset="-122"/>
                <a:cs typeface="Calibri" pitchFamily="34" charset="-120"/>
              </a:rPr>
              <a:t>28,404 hrs — dominant, everyday regime</a:t>
            </a:r>
            <a:endParaRPr lang="en-US" sz="980" dirty="0"/>
          </a:p>
        </p:txBody>
      </p:sp>
      <p:sp>
        <p:nvSpPr>
          <p:cNvPr id="11" name="Text 8"/>
          <p:cNvSpPr/>
          <p:nvPr/>
        </p:nvSpPr>
        <p:spPr>
          <a:xfrm>
            <a:off x="6675120" y="3172968"/>
            <a:ext cx="1417320" cy="384048"/>
          </a:xfrm>
          <a:prstGeom prst="rect">
            <a:avLst/>
          </a:prstGeom>
          <a:noFill/>
          <a:ln/>
        </p:spPr>
        <p:txBody>
          <a:bodyPr wrap="square" rtlCol="0" anchor="ctr"/>
          <a:lstStyle/>
          <a:p>
            <a:pPr marL="0" indent="0">
              <a:buNone/>
            </a:pPr>
            <a:r>
              <a:rPr lang="en-US" sz="1100" b="1" dirty="0">
                <a:solidFill>
                  <a:srgbClr val="1B2430"/>
                </a:solidFill>
                <a:latin typeface="Calibri" pitchFamily="34" charset="0"/>
                <a:ea typeface="Calibri" pitchFamily="34" charset="-122"/>
                <a:cs typeface="Calibri" pitchFamily="34" charset="-120"/>
              </a:rPr>
              <a:t>Cluster 3</a:t>
            </a:r>
            <a:endParaRPr lang="en-US" sz="1100" dirty="0"/>
          </a:p>
        </p:txBody>
      </p:sp>
      <p:sp>
        <p:nvSpPr>
          <p:cNvPr id="12" name="Text 9"/>
          <p:cNvSpPr/>
          <p:nvPr/>
        </p:nvSpPr>
        <p:spPr>
          <a:xfrm>
            <a:off x="8092440" y="3172968"/>
            <a:ext cx="1371600" cy="384048"/>
          </a:xfrm>
          <a:prstGeom prst="rect">
            <a:avLst/>
          </a:prstGeom>
          <a:noFill/>
          <a:ln/>
        </p:spPr>
        <p:txBody>
          <a:bodyPr wrap="square" rtlCol="0" anchor="ctr"/>
          <a:lstStyle/>
          <a:p>
            <a:pPr marL="0" indent="0">
              <a:buNone/>
            </a:pPr>
            <a:r>
              <a:rPr lang="en-US" sz="1100" b="1" dirty="0">
                <a:solidFill>
                  <a:srgbClr val="00C2D1"/>
                </a:solidFill>
                <a:latin typeface="Calibri" pitchFamily="34" charset="0"/>
                <a:ea typeface="Calibri" pitchFamily="34" charset="-122"/>
                <a:cs typeface="Calibri" pitchFamily="34" charset="-120"/>
              </a:rPr>
              <a:t>Medium</a:t>
            </a:r>
            <a:endParaRPr lang="en-US" sz="1100" dirty="0"/>
          </a:p>
        </p:txBody>
      </p:sp>
      <p:sp>
        <p:nvSpPr>
          <p:cNvPr id="13" name="Text 10"/>
          <p:cNvSpPr/>
          <p:nvPr/>
        </p:nvSpPr>
        <p:spPr>
          <a:xfrm>
            <a:off x="9418320" y="3172968"/>
            <a:ext cx="2377440" cy="384048"/>
          </a:xfrm>
          <a:prstGeom prst="rect">
            <a:avLst/>
          </a:prstGeom>
          <a:noFill/>
          <a:ln/>
        </p:spPr>
        <p:txBody>
          <a:bodyPr wrap="square" rtlCol="0" anchor="ctr"/>
          <a:lstStyle/>
          <a:p>
            <a:pPr marL="0" indent="0">
              <a:buNone/>
            </a:pPr>
            <a:r>
              <a:rPr lang="en-US" sz="980" dirty="0">
                <a:solidFill>
                  <a:srgbClr val="5B6B82"/>
                </a:solidFill>
                <a:latin typeface="Calibri" pitchFamily="34" charset="0"/>
                <a:ea typeface="Calibri" pitchFamily="34" charset="-122"/>
                <a:cs typeface="Calibri" pitchFamily="34" charset="-120"/>
              </a:rPr>
              <a:t>1,242 hrs</a:t>
            </a:r>
            <a:endParaRPr lang="en-US" sz="980" dirty="0"/>
          </a:p>
        </p:txBody>
      </p:sp>
      <p:sp>
        <p:nvSpPr>
          <p:cNvPr id="14" name="Text 11"/>
          <p:cNvSpPr/>
          <p:nvPr/>
        </p:nvSpPr>
        <p:spPr>
          <a:xfrm>
            <a:off x="6675120" y="3648456"/>
            <a:ext cx="1417320" cy="384048"/>
          </a:xfrm>
          <a:prstGeom prst="rect">
            <a:avLst/>
          </a:prstGeom>
          <a:noFill/>
          <a:ln/>
        </p:spPr>
        <p:txBody>
          <a:bodyPr wrap="square" rtlCol="0" anchor="ctr"/>
          <a:lstStyle/>
          <a:p>
            <a:pPr marL="0" indent="0">
              <a:buNone/>
            </a:pPr>
            <a:r>
              <a:rPr lang="en-US" sz="1100" b="1" dirty="0">
                <a:solidFill>
                  <a:srgbClr val="1B2430"/>
                </a:solidFill>
                <a:latin typeface="Calibri" pitchFamily="34" charset="0"/>
                <a:ea typeface="Calibri" pitchFamily="34" charset="-122"/>
                <a:cs typeface="Calibri" pitchFamily="34" charset="-120"/>
              </a:rPr>
              <a:t>Cluster 1</a:t>
            </a:r>
            <a:endParaRPr lang="en-US" sz="1100" dirty="0"/>
          </a:p>
        </p:txBody>
      </p:sp>
      <p:sp>
        <p:nvSpPr>
          <p:cNvPr id="15" name="Text 12"/>
          <p:cNvSpPr/>
          <p:nvPr/>
        </p:nvSpPr>
        <p:spPr>
          <a:xfrm>
            <a:off x="8092440" y="3648456"/>
            <a:ext cx="1371600" cy="384048"/>
          </a:xfrm>
          <a:prstGeom prst="rect">
            <a:avLst/>
          </a:prstGeom>
          <a:noFill/>
          <a:ln/>
        </p:spPr>
        <p:txBody>
          <a:bodyPr wrap="square" rtlCol="0" anchor="ctr"/>
          <a:lstStyle/>
          <a:p>
            <a:pPr marL="0" indent="0">
              <a:buNone/>
            </a:pPr>
            <a:r>
              <a:rPr lang="en-US" sz="1100" b="1" dirty="0">
                <a:solidFill>
                  <a:srgbClr val="00C2D1"/>
                </a:solidFill>
                <a:latin typeface="Calibri" pitchFamily="34" charset="0"/>
                <a:ea typeface="Calibri" pitchFamily="34" charset="-122"/>
                <a:cs typeface="Calibri" pitchFamily="34" charset="-120"/>
              </a:rPr>
              <a:t>Low–Medium</a:t>
            </a:r>
            <a:endParaRPr lang="en-US" sz="1100" dirty="0"/>
          </a:p>
        </p:txBody>
      </p:sp>
      <p:sp>
        <p:nvSpPr>
          <p:cNvPr id="16" name="Text 13"/>
          <p:cNvSpPr/>
          <p:nvPr/>
        </p:nvSpPr>
        <p:spPr>
          <a:xfrm>
            <a:off x="9418320" y="3648456"/>
            <a:ext cx="2377440" cy="384048"/>
          </a:xfrm>
          <a:prstGeom prst="rect">
            <a:avLst/>
          </a:prstGeom>
          <a:noFill/>
          <a:ln/>
        </p:spPr>
        <p:txBody>
          <a:bodyPr wrap="square" rtlCol="0" anchor="ctr"/>
          <a:lstStyle/>
          <a:p>
            <a:pPr marL="0" indent="0">
              <a:buNone/>
            </a:pPr>
            <a:r>
              <a:rPr lang="en-US" sz="980" dirty="0">
                <a:solidFill>
                  <a:srgbClr val="5B6B82"/>
                </a:solidFill>
                <a:latin typeface="Calibri" pitchFamily="34" charset="0"/>
                <a:ea typeface="Calibri" pitchFamily="34" charset="-122"/>
                <a:cs typeface="Calibri" pitchFamily="34" charset="-120"/>
              </a:rPr>
              <a:t>1,105 hrs</a:t>
            </a:r>
            <a:endParaRPr lang="en-US" sz="980" dirty="0"/>
          </a:p>
        </p:txBody>
      </p:sp>
      <p:sp>
        <p:nvSpPr>
          <p:cNvPr id="17" name="Text 14"/>
          <p:cNvSpPr/>
          <p:nvPr/>
        </p:nvSpPr>
        <p:spPr>
          <a:xfrm>
            <a:off x="6675120" y="4123944"/>
            <a:ext cx="1417320" cy="384048"/>
          </a:xfrm>
          <a:prstGeom prst="rect">
            <a:avLst/>
          </a:prstGeom>
          <a:noFill/>
          <a:ln/>
        </p:spPr>
        <p:txBody>
          <a:bodyPr wrap="square" rtlCol="0" anchor="ctr"/>
          <a:lstStyle/>
          <a:p>
            <a:pPr marL="0" indent="0">
              <a:buNone/>
            </a:pPr>
            <a:r>
              <a:rPr lang="en-US" sz="1100" b="1" dirty="0">
                <a:solidFill>
                  <a:srgbClr val="1B2430"/>
                </a:solidFill>
                <a:latin typeface="Calibri" pitchFamily="34" charset="0"/>
                <a:ea typeface="Calibri" pitchFamily="34" charset="-122"/>
                <a:cs typeface="Calibri" pitchFamily="34" charset="-120"/>
              </a:rPr>
              <a:t>Cluster 2 / 4</a:t>
            </a:r>
            <a:endParaRPr lang="en-US" sz="1100" dirty="0"/>
          </a:p>
        </p:txBody>
      </p:sp>
      <p:sp>
        <p:nvSpPr>
          <p:cNvPr id="18" name="Text 15"/>
          <p:cNvSpPr/>
          <p:nvPr/>
        </p:nvSpPr>
        <p:spPr>
          <a:xfrm>
            <a:off x="8092440" y="4123944"/>
            <a:ext cx="1371600" cy="384048"/>
          </a:xfrm>
          <a:prstGeom prst="rect">
            <a:avLst/>
          </a:prstGeom>
          <a:noFill/>
          <a:ln/>
        </p:spPr>
        <p:txBody>
          <a:bodyPr wrap="square" rtlCol="0" anchor="ctr"/>
          <a:lstStyle/>
          <a:p>
            <a:pPr marL="0" indent="0">
              <a:buNone/>
            </a:pPr>
            <a:r>
              <a:rPr lang="en-US" sz="1100" b="1" dirty="0">
                <a:solidFill>
                  <a:srgbClr val="00C2D1"/>
                </a:solidFill>
                <a:latin typeface="Calibri" pitchFamily="34" charset="0"/>
                <a:ea typeface="Calibri" pitchFamily="34" charset="-122"/>
                <a:cs typeface="Calibri" pitchFamily="34" charset="-120"/>
              </a:rPr>
              <a:t>Low</a:t>
            </a:r>
            <a:endParaRPr lang="en-US" sz="1100" dirty="0"/>
          </a:p>
        </p:txBody>
      </p:sp>
      <p:sp>
        <p:nvSpPr>
          <p:cNvPr id="19" name="Text 16"/>
          <p:cNvSpPr/>
          <p:nvPr/>
        </p:nvSpPr>
        <p:spPr>
          <a:xfrm>
            <a:off x="9418320" y="4123944"/>
            <a:ext cx="2377440" cy="384048"/>
          </a:xfrm>
          <a:prstGeom prst="rect">
            <a:avLst/>
          </a:prstGeom>
          <a:noFill/>
          <a:ln/>
        </p:spPr>
        <p:txBody>
          <a:bodyPr wrap="square" rtlCol="0" anchor="ctr"/>
          <a:lstStyle/>
          <a:p>
            <a:pPr marL="0" indent="0">
              <a:buNone/>
            </a:pPr>
            <a:r>
              <a:rPr lang="en-US" sz="980" dirty="0">
                <a:solidFill>
                  <a:srgbClr val="5B6B82"/>
                </a:solidFill>
                <a:latin typeface="Calibri" pitchFamily="34" charset="0"/>
                <a:ea typeface="Calibri" pitchFamily="34" charset="-122"/>
                <a:cs typeface="Calibri" pitchFamily="34" charset="-120"/>
              </a:rPr>
              <a:t>1,582 / 906 hrs</a:t>
            </a:r>
            <a:endParaRPr lang="en-US" sz="980" dirty="0"/>
          </a:p>
        </p:txBody>
      </p:sp>
      <p:sp>
        <p:nvSpPr>
          <p:cNvPr id="20" name="Text 17"/>
          <p:cNvSpPr/>
          <p:nvPr/>
        </p:nvSpPr>
        <p:spPr>
          <a:xfrm>
            <a:off x="6675120" y="4599432"/>
            <a:ext cx="1417320" cy="384048"/>
          </a:xfrm>
          <a:prstGeom prst="rect">
            <a:avLst/>
          </a:prstGeom>
          <a:noFill/>
          <a:ln/>
        </p:spPr>
        <p:txBody>
          <a:bodyPr wrap="square" rtlCol="0" anchor="ctr"/>
          <a:lstStyle/>
          <a:p>
            <a:pPr marL="0" indent="0">
              <a:buNone/>
            </a:pPr>
            <a:r>
              <a:rPr lang="en-US" sz="1100" b="1" dirty="0">
                <a:solidFill>
                  <a:srgbClr val="1B2430"/>
                </a:solidFill>
                <a:latin typeface="Calibri" pitchFamily="34" charset="0"/>
                <a:ea typeface="Calibri" pitchFamily="34" charset="-122"/>
                <a:cs typeface="Calibri" pitchFamily="34" charset="-120"/>
              </a:rPr>
              <a:t>Cluster 5</a:t>
            </a:r>
            <a:endParaRPr lang="en-US" sz="1100" dirty="0"/>
          </a:p>
        </p:txBody>
      </p:sp>
      <p:sp>
        <p:nvSpPr>
          <p:cNvPr id="21" name="Text 18"/>
          <p:cNvSpPr/>
          <p:nvPr/>
        </p:nvSpPr>
        <p:spPr>
          <a:xfrm>
            <a:off x="8092440" y="4599432"/>
            <a:ext cx="1371600" cy="384048"/>
          </a:xfrm>
          <a:prstGeom prst="rect">
            <a:avLst/>
          </a:prstGeom>
          <a:noFill/>
          <a:ln/>
        </p:spPr>
        <p:txBody>
          <a:bodyPr wrap="square" rtlCol="0" anchor="ctr"/>
          <a:lstStyle/>
          <a:p>
            <a:pPr marL="0" indent="0">
              <a:buNone/>
            </a:pPr>
            <a:r>
              <a:rPr lang="en-US" sz="1100" b="1" dirty="0">
                <a:solidFill>
                  <a:srgbClr val="00C2D1"/>
                </a:solidFill>
                <a:latin typeface="Calibri" pitchFamily="34" charset="0"/>
                <a:ea typeface="Calibri" pitchFamily="34" charset="-122"/>
                <a:cs typeface="Calibri" pitchFamily="34" charset="-120"/>
              </a:rPr>
              <a:t>Very Low</a:t>
            </a:r>
            <a:endParaRPr lang="en-US" sz="1100" dirty="0"/>
          </a:p>
        </p:txBody>
      </p:sp>
      <p:sp>
        <p:nvSpPr>
          <p:cNvPr id="22" name="Text 19"/>
          <p:cNvSpPr/>
          <p:nvPr/>
        </p:nvSpPr>
        <p:spPr>
          <a:xfrm>
            <a:off x="9418320" y="4599432"/>
            <a:ext cx="2377440" cy="384048"/>
          </a:xfrm>
          <a:prstGeom prst="rect">
            <a:avLst/>
          </a:prstGeom>
          <a:noFill/>
          <a:ln/>
        </p:spPr>
        <p:txBody>
          <a:bodyPr wrap="square" rtlCol="0" anchor="ctr"/>
          <a:lstStyle/>
          <a:p>
            <a:pPr marL="0" indent="0">
              <a:buNone/>
            </a:pPr>
            <a:r>
              <a:rPr lang="en-US" sz="980" dirty="0">
                <a:solidFill>
                  <a:srgbClr val="5B6B82"/>
                </a:solidFill>
                <a:latin typeface="Calibri" pitchFamily="34" charset="0"/>
                <a:ea typeface="Calibri" pitchFamily="34" charset="-122"/>
                <a:cs typeface="Calibri" pitchFamily="34" charset="-120"/>
              </a:rPr>
              <a:t>1,350 hrs — minimal-usage hours</a:t>
            </a:r>
            <a:endParaRPr lang="en-US" sz="980" dirty="0"/>
          </a:p>
        </p:txBody>
      </p:sp>
      <p:sp>
        <p:nvSpPr>
          <p:cNvPr id="23" name="Text 20"/>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FORECASTING - EXPLORATORY ANALYSIS</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The Series Is Stationary — and Clearly Seasonal</a:t>
            </a:r>
            <a:endParaRPr lang="en-US" sz="3000" dirty="0"/>
          </a:p>
        </p:txBody>
      </p:sp>
      <p:sp>
        <p:nvSpPr>
          <p:cNvPr id="4" name="Shape 2"/>
          <p:cNvSpPr/>
          <p:nvPr/>
        </p:nvSpPr>
        <p:spPr>
          <a:xfrm>
            <a:off x="548640" y="2103120"/>
            <a:ext cx="3520440" cy="3749040"/>
          </a:xfrm>
          <a:prstGeom prst="roundRect">
            <a:avLst>
              <a:gd name="adj" fmla="val 2078"/>
            </a:avLst>
          </a:prstGeom>
          <a:solidFill>
            <a:srgbClr val="FFFFFF"/>
          </a:solidFill>
          <a:ln/>
          <a:effectLst>
            <a:outerShdw blurRad="101600" dist="38100" dir="5400000" algn="bl" rotWithShape="0">
              <a:srgbClr val="0B1F3A">
                <a:alpha val="10000"/>
              </a:srgbClr>
            </a:outerShdw>
          </a:effectLst>
        </p:spPr>
      </p:sp>
      <p:sp>
        <p:nvSpPr>
          <p:cNvPr id="5" name="Shape 3"/>
          <p:cNvSpPr/>
          <p:nvPr/>
        </p:nvSpPr>
        <p:spPr>
          <a:xfrm>
            <a:off x="841248" y="2423160"/>
            <a:ext cx="594360" cy="594360"/>
          </a:xfrm>
          <a:prstGeom prst="ellipse">
            <a:avLst/>
          </a:prstGeom>
          <a:solidFill>
            <a:srgbClr val="E7FBFC"/>
          </a:solidFill>
          <a:ln/>
        </p:spPr>
      </p:sp>
      <p:pic>
        <p:nvPicPr>
          <p:cNvPr id="6" name="Image 0" descr="preencoded.png"/>
          <p:cNvPicPr>
            <a:picLocks noChangeAspect="1"/>
          </p:cNvPicPr>
          <p:nvPr/>
        </p:nvPicPr>
        <p:blipFill>
          <a:blip r:embed="rId3"/>
          <a:stretch>
            <a:fillRect/>
          </a:stretch>
        </p:blipFill>
        <p:spPr>
          <a:xfrm>
            <a:off x="995782" y="2577694"/>
            <a:ext cx="285293" cy="285293"/>
          </a:xfrm>
          <a:prstGeom prst="rect">
            <a:avLst/>
          </a:prstGeom>
        </p:spPr>
      </p:pic>
      <p:sp>
        <p:nvSpPr>
          <p:cNvPr id="7" name="Text 4"/>
          <p:cNvSpPr/>
          <p:nvPr/>
        </p:nvSpPr>
        <p:spPr>
          <a:xfrm>
            <a:off x="841248" y="3200400"/>
            <a:ext cx="2935224" cy="502920"/>
          </a:xfrm>
          <a:prstGeom prst="rect">
            <a:avLst/>
          </a:prstGeom>
          <a:noFill/>
          <a:ln/>
        </p:spPr>
        <p:txBody>
          <a:bodyPr wrap="square"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STL Decomposition</a:t>
            </a:r>
            <a:endParaRPr lang="en-US" sz="1450" dirty="0"/>
          </a:p>
        </p:txBody>
      </p:sp>
      <p:sp>
        <p:nvSpPr>
          <p:cNvPr id="8" name="Text 5"/>
          <p:cNvSpPr/>
          <p:nvPr/>
        </p:nvSpPr>
        <p:spPr>
          <a:xfrm>
            <a:off x="841248" y="3749040"/>
            <a:ext cx="2935224" cy="1828800"/>
          </a:xfrm>
          <a:prstGeom prst="rect">
            <a:avLst/>
          </a:prstGeom>
          <a:noFill/>
          <a:ln/>
        </p:spPr>
        <p:txBody>
          <a:bodyPr wrap="square" rtlCol="0" anchor="ctr"/>
          <a:lstStyle/>
          <a:p>
            <a:pPr marL="0" indent="0">
              <a:buNone/>
            </a:pPr>
            <a:r>
              <a:rPr lang="en-US" sz="1130" dirty="0">
                <a:solidFill>
                  <a:srgbClr val="5B6B82"/>
                </a:solidFill>
                <a:latin typeface="Calibri" pitchFamily="34" charset="0"/>
                <a:ea typeface="Calibri" pitchFamily="34" charset="-122"/>
                <a:cs typeface="Calibri" pitchFamily="34" charset="-120"/>
              </a:rPr>
              <a:t>STL cleanly separated trend, daily seasonality, and residual noise — outperforming classical additive decomposition, which missed most of the seasonal signal.</a:t>
            </a:r>
            <a:endParaRPr lang="en-US" sz="1130" dirty="0"/>
          </a:p>
        </p:txBody>
      </p:sp>
      <p:sp>
        <p:nvSpPr>
          <p:cNvPr id="9" name="Shape 6"/>
          <p:cNvSpPr/>
          <p:nvPr/>
        </p:nvSpPr>
        <p:spPr>
          <a:xfrm>
            <a:off x="4325112" y="2103120"/>
            <a:ext cx="3520440" cy="3749040"/>
          </a:xfrm>
          <a:prstGeom prst="roundRect">
            <a:avLst>
              <a:gd name="adj" fmla="val 2078"/>
            </a:avLst>
          </a:prstGeom>
          <a:solidFill>
            <a:srgbClr val="FFFFFF"/>
          </a:solidFill>
          <a:ln/>
          <a:effectLst>
            <a:outerShdw blurRad="101600" dist="38100" dir="5400000" algn="bl" rotWithShape="0">
              <a:srgbClr val="0B1F3A">
                <a:alpha val="10000"/>
              </a:srgbClr>
            </a:outerShdw>
          </a:effectLst>
        </p:spPr>
      </p:sp>
      <p:sp>
        <p:nvSpPr>
          <p:cNvPr id="10" name="Shape 7"/>
          <p:cNvSpPr/>
          <p:nvPr/>
        </p:nvSpPr>
        <p:spPr>
          <a:xfrm>
            <a:off x="4617720" y="2423160"/>
            <a:ext cx="594360" cy="594360"/>
          </a:xfrm>
          <a:prstGeom prst="ellipse">
            <a:avLst/>
          </a:prstGeom>
          <a:solidFill>
            <a:srgbClr val="E7FBFC"/>
          </a:solidFill>
          <a:ln/>
        </p:spPr>
      </p:sp>
      <p:pic>
        <p:nvPicPr>
          <p:cNvPr id="11" name="Image 1" descr="preencoded.png"/>
          <p:cNvPicPr>
            <a:picLocks noChangeAspect="1"/>
          </p:cNvPicPr>
          <p:nvPr/>
        </p:nvPicPr>
        <p:blipFill>
          <a:blip r:embed="rId4"/>
          <a:stretch>
            <a:fillRect/>
          </a:stretch>
        </p:blipFill>
        <p:spPr>
          <a:xfrm>
            <a:off x="4772254" y="2577694"/>
            <a:ext cx="285293" cy="285293"/>
          </a:xfrm>
          <a:prstGeom prst="rect">
            <a:avLst/>
          </a:prstGeom>
        </p:spPr>
      </p:pic>
      <p:sp>
        <p:nvSpPr>
          <p:cNvPr id="12" name="Text 8"/>
          <p:cNvSpPr/>
          <p:nvPr/>
        </p:nvSpPr>
        <p:spPr>
          <a:xfrm>
            <a:off x="4617720" y="3200400"/>
            <a:ext cx="2935224" cy="502920"/>
          </a:xfrm>
          <a:prstGeom prst="rect">
            <a:avLst/>
          </a:prstGeom>
          <a:noFill/>
          <a:ln/>
        </p:spPr>
        <p:txBody>
          <a:bodyPr wrap="square"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ADF Stationarity Test</a:t>
            </a:r>
            <a:endParaRPr lang="en-US" sz="1450" dirty="0"/>
          </a:p>
        </p:txBody>
      </p:sp>
      <p:sp>
        <p:nvSpPr>
          <p:cNvPr id="13" name="Text 9"/>
          <p:cNvSpPr/>
          <p:nvPr/>
        </p:nvSpPr>
        <p:spPr>
          <a:xfrm>
            <a:off x="4617720" y="3749040"/>
            <a:ext cx="2935224" cy="1828800"/>
          </a:xfrm>
          <a:prstGeom prst="rect">
            <a:avLst/>
          </a:prstGeom>
          <a:noFill/>
          <a:ln/>
        </p:spPr>
        <p:txBody>
          <a:bodyPr wrap="square" rtlCol="0" anchor="ctr"/>
          <a:lstStyle/>
          <a:p>
            <a:pPr marL="0" indent="0">
              <a:buNone/>
            </a:pPr>
            <a:r>
              <a:rPr lang="en-US" sz="1130" dirty="0">
                <a:solidFill>
                  <a:srgbClr val="5B6B82"/>
                </a:solidFill>
                <a:latin typeface="Calibri" pitchFamily="34" charset="0"/>
                <a:ea typeface="Calibri" pitchFamily="34" charset="-122"/>
                <a:cs typeface="Calibri" pitchFamily="34" charset="-120"/>
              </a:rPr>
              <a:t>ADF statistic of −14.37 (p ≈ 9.5e-27) rejects the unit-root null. The series is stationary, so no differencing is required before modelling.</a:t>
            </a:r>
            <a:endParaRPr lang="en-US" sz="1130" dirty="0"/>
          </a:p>
        </p:txBody>
      </p:sp>
      <p:sp>
        <p:nvSpPr>
          <p:cNvPr id="14" name="Shape 10"/>
          <p:cNvSpPr/>
          <p:nvPr/>
        </p:nvSpPr>
        <p:spPr>
          <a:xfrm>
            <a:off x="8101584" y="2103120"/>
            <a:ext cx="3520440" cy="3749040"/>
          </a:xfrm>
          <a:prstGeom prst="roundRect">
            <a:avLst>
              <a:gd name="adj" fmla="val 2078"/>
            </a:avLst>
          </a:prstGeom>
          <a:solidFill>
            <a:srgbClr val="FFFFFF"/>
          </a:solidFill>
          <a:ln/>
          <a:effectLst>
            <a:outerShdw blurRad="101600" dist="38100" dir="5400000" algn="bl" rotWithShape="0">
              <a:srgbClr val="0B1F3A">
                <a:alpha val="10000"/>
              </a:srgbClr>
            </a:outerShdw>
          </a:effectLst>
        </p:spPr>
      </p:sp>
      <p:sp>
        <p:nvSpPr>
          <p:cNvPr id="15" name="Shape 11"/>
          <p:cNvSpPr/>
          <p:nvPr/>
        </p:nvSpPr>
        <p:spPr>
          <a:xfrm>
            <a:off x="8394192" y="2423160"/>
            <a:ext cx="594360" cy="594360"/>
          </a:xfrm>
          <a:prstGeom prst="ellipse">
            <a:avLst/>
          </a:prstGeom>
          <a:solidFill>
            <a:srgbClr val="E7FBFC"/>
          </a:solidFill>
          <a:ln/>
        </p:spPr>
      </p:sp>
      <p:pic>
        <p:nvPicPr>
          <p:cNvPr id="16" name="Image 2" descr="preencoded.png"/>
          <p:cNvPicPr>
            <a:picLocks noChangeAspect="1"/>
          </p:cNvPicPr>
          <p:nvPr/>
        </p:nvPicPr>
        <p:blipFill>
          <a:blip r:embed="rId5"/>
          <a:stretch>
            <a:fillRect/>
          </a:stretch>
        </p:blipFill>
        <p:spPr>
          <a:xfrm>
            <a:off x="8548726" y="2577694"/>
            <a:ext cx="285293" cy="285293"/>
          </a:xfrm>
          <a:prstGeom prst="rect">
            <a:avLst/>
          </a:prstGeom>
        </p:spPr>
      </p:pic>
      <p:sp>
        <p:nvSpPr>
          <p:cNvPr id="17" name="Text 12"/>
          <p:cNvSpPr/>
          <p:nvPr/>
        </p:nvSpPr>
        <p:spPr>
          <a:xfrm>
            <a:off x="8394192" y="3200400"/>
            <a:ext cx="2935224" cy="502920"/>
          </a:xfrm>
          <a:prstGeom prst="rect">
            <a:avLst/>
          </a:prstGeom>
          <a:noFill/>
          <a:ln/>
        </p:spPr>
        <p:txBody>
          <a:bodyPr wrap="square"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ACF / PACF</a:t>
            </a:r>
            <a:endParaRPr lang="en-US" sz="1450" dirty="0"/>
          </a:p>
        </p:txBody>
      </p:sp>
      <p:sp>
        <p:nvSpPr>
          <p:cNvPr id="18" name="Text 13"/>
          <p:cNvSpPr/>
          <p:nvPr/>
        </p:nvSpPr>
        <p:spPr>
          <a:xfrm>
            <a:off x="8394192" y="3749040"/>
            <a:ext cx="2935224" cy="1828800"/>
          </a:xfrm>
          <a:prstGeom prst="rect">
            <a:avLst/>
          </a:prstGeom>
          <a:noFill/>
          <a:ln/>
        </p:spPr>
        <p:txBody>
          <a:bodyPr wrap="square" rtlCol="0" anchor="ctr"/>
          <a:lstStyle/>
          <a:p>
            <a:pPr marL="0" indent="0">
              <a:buNone/>
            </a:pPr>
            <a:r>
              <a:rPr lang="en-US" sz="1130" dirty="0">
                <a:solidFill>
                  <a:srgbClr val="5B6B82"/>
                </a:solidFill>
                <a:latin typeface="Calibri" pitchFamily="34" charset="0"/>
                <a:ea typeface="Calibri" pitchFamily="34" charset="-122"/>
                <a:cs typeface="Calibri" pitchFamily="34" charset="-120"/>
              </a:rPr>
              <a:t>PACF shows a dominant spike at lag 1 with smaller spikes near lags 22–24 and 48 — a short-memory process layered with a daily (24-hour) cycle.</a:t>
            </a:r>
            <a:endParaRPr lang="en-US" sz="1130" dirty="0"/>
          </a:p>
        </p:txBody>
      </p:sp>
      <p:sp>
        <p:nvSpPr>
          <p:cNvPr id="19" name="Text 14"/>
          <p:cNvSpPr/>
          <p:nvPr/>
        </p:nvSpPr>
        <p:spPr>
          <a:xfrm>
            <a:off x="548640" y="5989320"/>
            <a:ext cx="11064240" cy="457200"/>
          </a:xfrm>
          <a:prstGeom prst="rect">
            <a:avLst/>
          </a:prstGeom>
          <a:noFill/>
          <a:ln/>
        </p:spPr>
        <p:txBody>
          <a:bodyPr wrap="square" rtlCol="0" anchor="ctr"/>
          <a:lstStyle/>
          <a:p>
            <a:pPr marL="0" indent="0">
              <a:buNone/>
            </a:pPr>
            <a:r>
              <a:rPr lang="en-US" sz="1150" i="1" dirty="0">
                <a:solidFill>
                  <a:srgbClr val="5B6B82"/>
                </a:solidFill>
                <a:latin typeface="Calibri" pitchFamily="34" charset="0"/>
                <a:ea typeface="Calibri" pitchFamily="34" charset="-122"/>
                <a:cs typeface="Calibri" pitchFamily="34" charset="-120"/>
              </a:rPr>
              <a:t>Conclusion: a low-order autoregressive structure (AR(1)) plus a 24-hour seasonal component points directly to SARIMA as the natural model family.</a:t>
            </a:r>
            <a:endParaRPr lang="en-US" sz="1150" dirty="0"/>
          </a:p>
        </p:txBody>
      </p:sp>
      <p:sp>
        <p:nvSpPr>
          <p:cNvPr id="20" name="Text 15"/>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FORECASTING - MODEL COMPARISON</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SARIMA Beats ARIMA on Every Metric</a:t>
            </a:r>
            <a:endParaRPr lang="en-US" sz="3000" dirty="0"/>
          </a:p>
        </p:txBody>
      </p:sp>
      <p:sp>
        <p:nvSpPr>
          <p:cNvPr id="4" name="Text 2"/>
          <p:cNvSpPr/>
          <p:nvPr/>
        </p:nvSpPr>
        <p:spPr>
          <a:xfrm>
            <a:off x="548640" y="1371600"/>
            <a:ext cx="7315200" cy="320040"/>
          </a:xfrm>
          <a:prstGeom prst="rect">
            <a:avLst/>
          </a:prstGeom>
          <a:noFill/>
          <a:ln/>
        </p:spPr>
        <p:txBody>
          <a:bodyPr wrap="square" rtlCol="0" anchor="ctr"/>
          <a:lstStyle/>
          <a:p>
            <a:pPr marL="0" indent="0">
              <a:buNone/>
            </a:pPr>
            <a:r>
              <a:rPr lang="en-US" sz="1150" dirty="0">
                <a:solidFill>
                  <a:srgbClr val="5B6B82"/>
                </a:solidFill>
                <a:latin typeface="Calibri" pitchFamily="34" charset="0"/>
                <a:ea typeface="Calibri" pitchFamily="34" charset="-122"/>
                <a:cs typeface="Calibri" pitchFamily="34" charset="-120"/>
              </a:rPr>
              <a:t>80 / 20 chronological split — 27,671 training hours, 6,918 test hours</a:t>
            </a:r>
            <a:endParaRPr lang="en-US" sz="1150" dirty="0"/>
          </a:p>
        </p:txBody>
      </p:sp>
      <p:graphicFrame>
        <p:nvGraphicFramePr>
          <p:cNvPr id="5" name="Chart 0"/>
          <p:cNvGraphicFramePr/>
          <p:nvPr/>
        </p:nvGraphicFramePr>
        <p:xfrm>
          <a:off x="548640" y="1920240"/>
          <a:ext cx="56692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537960" y="1920240"/>
            <a:ext cx="5074920" cy="3566160"/>
          </a:xfrm>
          <a:prstGeom prst="roundRect">
            <a:avLst>
              <a:gd name="adj" fmla="val 2051"/>
            </a:avLst>
          </a:prstGeom>
          <a:solidFill>
            <a:srgbClr val="0B1F3A"/>
          </a:solidFill>
          <a:ln/>
          <a:effectLst>
            <a:outerShdw blurRad="101600" dist="38100" dir="5400000" algn="bl" rotWithShape="0">
              <a:srgbClr val="0B1F3A">
                <a:alpha val="10000"/>
              </a:srgbClr>
            </a:outerShdw>
          </a:effectLst>
        </p:spPr>
      </p:sp>
      <p:sp>
        <p:nvSpPr>
          <p:cNvPr id="7" name="Text 4"/>
          <p:cNvSpPr/>
          <p:nvPr/>
        </p:nvSpPr>
        <p:spPr>
          <a:xfrm>
            <a:off x="6858000" y="2148840"/>
            <a:ext cx="36576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Test-Set Results</a:t>
            </a:r>
            <a:endParaRPr lang="en-US" sz="1500" dirty="0"/>
          </a:p>
        </p:txBody>
      </p:sp>
      <p:sp>
        <p:nvSpPr>
          <p:cNvPr id="8" name="Text 5"/>
          <p:cNvSpPr/>
          <p:nvPr/>
        </p:nvSpPr>
        <p:spPr>
          <a:xfrm>
            <a:off x="6858000" y="2606040"/>
            <a:ext cx="914400" cy="274320"/>
          </a:xfrm>
          <a:prstGeom prst="rect">
            <a:avLst/>
          </a:prstGeom>
          <a:noFill/>
          <a:ln/>
        </p:spPr>
        <p:txBody>
          <a:bodyPr wrap="square" rtlCol="0" anchor="ctr"/>
          <a:lstStyle/>
          <a:p>
            <a:pPr marL="0" indent="0">
              <a:buNone/>
            </a:pPr>
            <a:endParaRPr lang="en-US" dirty="0"/>
          </a:p>
        </p:txBody>
      </p:sp>
      <p:sp>
        <p:nvSpPr>
          <p:cNvPr id="9" name="Text 6"/>
          <p:cNvSpPr/>
          <p:nvPr/>
        </p:nvSpPr>
        <p:spPr>
          <a:xfrm>
            <a:off x="8275320" y="2606040"/>
            <a:ext cx="1463040" cy="320040"/>
          </a:xfrm>
          <a:prstGeom prst="rect">
            <a:avLst/>
          </a:prstGeom>
          <a:noFill/>
          <a:ln/>
        </p:spPr>
        <p:txBody>
          <a:bodyPr wrap="square" rtlCol="0" anchor="ctr"/>
          <a:lstStyle/>
          <a:p>
            <a:pPr marL="0" indent="0">
              <a:buNone/>
            </a:pPr>
            <a:r>
              <a:rPr lang="en-US" sz="1050" dirty="0">
                <a:solidFill>
                  <a:srgbClr val="8FA3C2"/>
                </a:solidFill>
                <a:latin typeface="Calibri" pitchFamily="34" charset="0"/>
                <a:ea typeface="Calibri" pitchFamily="34" charset="-122"/>
                <a:cs typeface="Calibri" pitchFamily="34" charset="-120"/>
              </a:rPr>
              <a:t>Metric</a:t>
            </a:r>
            <a:endParaRPr lang="en-US" sz="1050" dirty="0"/>
          </a:p>
        </p:txBody>
      </p:sp>
      <p:sp>
        <p:nvSpPr>
          <p:cNvPr id="10" name="Text 7"/>
          <p:cNvSpPr/>
          <p:nvPr/>
        </p:nvSpPr>
        <p:spPr>
          <a:xfrm>
            <a:off x="9418320" y="2606040"/>
            <a:ext cx="1097280" cy="320040"/>
          </a:xfrm>
          <a:prstGeom prst="rect">
            <a:avLst/>
          </a:prstGeom>
          <a:noFill/>
          <a:ln/>
        </p:spPr>
        <p:txBody>
          <a:bodyPr wrap="square" rtlCol="0" anchor="ctr"/>
          <a:lstStyle/>
          <a:p>
            <a:pPr marL="0" indent="0" algn="ctr">
              <a:buNone/>
            </a:pPr>
            <a:r>
              <a:rPr lang="en-US" sz="1050" dirty="0">
                <a:solidFill>
                  <a:srgbClr val="8FA3C2"/>
                </a:solidFill>
                <a:latin typeface="Calibri" pitchFamily="34" charset="0"/>
                <a:ea typeface="Calibri" pitchFamily="34" charset="-122"/>
                <a:cs typeface="Calibri" pitchFamily="34" charset="-120"/>
              </a:rPr>
              <a:t>ARIMA</a:t>
            </a:r>
            <a:endParaRPr lang="en-US" sz="1050" dirty="0"/>
          </a:p>
        </p:txBody>
      </p:sp>
      <p:sp>
        <p:nvSpPr>
          <p:cNvPr id="11" name="Text 8"/>
          <p:cNvSpPr/>
          <p:nvPr/>
        </p:nvSpPr>
        <p:spPr>
          <a:xfrm>
            <a:off x="10332720" y="2606040"/>
            <a:ext cx="1188720" cy="320040"/>
          </a:xfrm>
          <a:prstGeom prst="rect">
            <a:avLst/>
          </a:prstGeom>
          <a:noFill/>
          <a:ln/>
        </p:spPr>
        <p:txBody>
          <a:bodyPr wrap="square" rtlCol="0" anchor="ctr"/>
          <a:lstStyle/>
          <a:p>
            <a:pPr marL="0" indent="0" algn="ctr">
              <a:buNone/>
            </a:pPr>
            <a:r>
              <a:rPr lang="en-US" sz="1050" b="1" dirty="0">
                <a:solidFill>
                  <a:srgbClr val="00C2D1"/>
                </a:solidFill>
                <a:latin typeface="Calibri" pitchFamily="34" charset="0"/>
                <a:ea typeface="Calibri" pitchFamily="34" charset="-122"/>
                <a:cs typeface="Calibri" pitchFamily="34" charset="-120"/>
              </a:rPr>
              <a:t>SARIMA</a:t>
            </a:r>
            <a:endParaRPr lang="en-US" sz="1050" dirty="0"/>
          </a:p>
        </p:txBody>
      </p:sp>
      <p:sp>
        <p:nvSpPr>
          <p:cNvPr id="12" name="Text 9"/>
          <p:cNvSpPr/>
          <p:nvPr/>
        </p:nvSpPr>
        <p:spPr>
          <a:xfrm>
            <a:off x="8275320" y="2971800"/>
            <a:ext cx="146304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R²</a:t>
            </a:r>
            <a:endParaRPr lang="en-US" sz="1200" dirty="0"/>
          </a:p>
        </p:txBody>
      </p:sp>
      <p:sp>
        <p:nvSpPr>
          <p:cNvPr id="13" name="Text 10"/>
          <p:cNvSpPr/>
          <p:nvPr/>
        </p:nvSpPr>
        <p:spPr>
          <a:xfrm>
            <a:off x="9418320" y="2971800"/>
            <a:ext cx="1097280" cy="365760"/>
          </a:xfrm>
          <a:prstGeom prst="rect">
            <a:avLst/>
          </a:prstGeom>
          <a:noFill/>
          <a:ln/>
        </p:spPr>
        <p:txBody>
          <a:bodyPr wrap="square" rtlCol="0" anchor="ctr"/>
          <a:lstStyle/>
          <a:p>
            <a:pPr marL="0" indent="0" algn="ctr">
              <a:buNone/>
            </a:pPr>
            <a:r>
              <a:rPr lang="en-US" sz="1200" dirty="0">
                <a:solidFill>
                  <a:srgbClr val="C4D2E6"/>
                </a:solidFill>
                <a:latin typeface="Calibri" pitchFamily="34" charset="0"/>
                <a:ea typeface="Calibri" pitchFamily="34" charset="-122"/>
                <a:cs typeface="Calibri" pitchFamily="34" charset="-120"/>
              </a:rPr>
              <a:t>-0.022</a:t>
            </a:r>
            <a:endParaRPr lang="en-US" sz="1200" dirty="0"/>
          </a:p>
        </p:txBody>
      </p:sp>
      <p:sp>
        <p:nvSpPr>
          <p:cNvPr id="14" name="Text 11"/>
          <p:cNvSpPr/>
          <p:nvPr/>
        </p:nvSpPr>
        <p:spPr>
          <a:xfrm>
            <a:off x="10332720" y="2971800"/>
            <a:ext cx="1188720" cy="365760"/>
          </a:xfrm>
          <a:prstGeom prst="rect">
            <a:avLst/>
          </a:prstGeom>
          <a:noFill/>
          <a:ln/>
        </p:spPr>
        <p:txBody>
          <a:bodyPr wrap="square" rtlCol="0" anchor="ctr"/>
          <a:lstStyle/>
          <a:p>
            <a:pPr marL="0" indent="0" algn="ctr">
              <a:buNone/>
            </a:pPr>
            <a:r>
              <a:rPr lang="en-US" sz="1200" b="1" dirty="0">
                <a:solidFill>
                  <a:srgbClr val="00C2D1"/>
                </a:solidFill>
                <a:latin typeface="Calibri" pitchFamily="34" charset="0"/>
                <a:ea typeface="Calibri" pitchFamily="34" charset="-122"/>
                <a:cs typeface="Calibri" pitchFamily="34" charset="-120"/>
              </a:rPr>
              <a:t>0.111</a:t>
            </a:r>
            <a:endParaRPr lang="en-US" sz="1200" dirty="0"/>
          </a:p>
        </p:txBody>
      </p:sp>
      <p:sp>
        <p:nvSpPr>
          <p:cNvPr id="15" name="Text 12"/>
          <p:cNvSpPr/>
          <p:nvPr/>
        </p:nvSpPr>
        <p:spPr>
          <a:xfrm>
            <a:off x="8275320" y="3429000"/>
            <a:ext cx="146304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AIC</a:t>
            </a:r>
            <a:endParaRPr lang="en-US" sz="1200" dirty="0"/>
          </a:p>
        </p:txBody>
      </p:sp>
      <p:sp>
        <p:nvSpPr>
          <p:cNvPr id="16" name="Text 13"/>
          <p:cNvSpPr/>
          <p:nvPr/>
        </p:nvSpPr>
        <p:spPr>
          <a:xfrm>
            <a:off x="9418320" y="3429000"/>
            <a:ext cx="1097280" cy="365760"/>
          </a:xfrm>
          <a:prstGeom prst="rect">
            <a:avLst/>
          </a:prstGeom>
          <a:noFill/>
          <a:ln/>
        </p:spPr>
        <p:txBody>
          <a:bodyPr wrap="square" rtlCol="0" anchor="ctr"/>
          <a:lstStyle/>
          <a:p>
            <a:pPr marL="0" indent="0" algn="ctr">
              <a:buNone/>
            </a:pPr>
            <a:r>
              <a:rPr lang="en-US" sz="1200" dirty="0">
                <a:solidFill>
                  <a:srgbClr val="C4D2E6"/>
                </a:solidFill>
                <a:latin typeface="Calibri" pitchFamily="34" charset="0"/>
                <a:ea typeface="Calibri" pitchFamily="34" charset="-122"/>
                <a:cs typeface="Calibri" pitchFamily="34" charset="-120"/>
              </a:rPr>
              <a:t>54,036.1</a:t>
            </a:r>
            <a:endParaRPr lang="en-US" sz="1200" dirty="0"/>
          </a:p>
        </p:txBody>
      </p:sp>
      <p:sp>
        <p:nvSpPr>
          <p:cNvPr id="17" name="Text 14"/>
          <p:cNvSpPr/>
          <p:nvPr/>
        </p:nvSpPr>
        <p:spPr>
          <a:xfrm>
            <a:off x="10332720" y="3429000"/>
            <a:ext cx="1188720" cy="365760"/>
          </a:xfrm>
          <a:prstGeom prst="rect">
            <a:avLst/>
          </a:prstGeom>
          <a:noFill/>
          <a:ln/>
        </p:spPr>
        <p:txBody>
          <a:bodyPr wrap="square" rtlCol="0" anchor="ctr"/>
          <a:lstStyle/>
          <a:p>
            <a:pPr marL="0" indent="0" algn="ctr">
              <a:buNone/>
            </a:pPr>
            <a:r>
              <a:rPr lang="en-US" sz="1200" b="1" dirty="0">
                <a:solidFill>
                  <a:srgbClr val="00C2D1"/>
                </a:solidFill>
                <a:latin typeface="Calibri" pitchFamily="34" charset="0"/>
                <a:ea typeface="Calibri" pitchFamily="34" charset="-122"/>
                <a:cs typeface="Calibri" pitchFamily="34" charset="-120"/>
              </a:rPr>
              <a:t>48,497.9</a:t>
            </a:r>
            <a:endParaRPr lang="en-US" sz="1200" dirty="0"/>
          </a:p>
        </p:txBody>
      </p:sp>
      <p:sp>
        <p:nvSpPr>
          <p:cNvPr id="18" name="Text 15"/>
          <p:cNvSpPr/>
          <p:nvPr/>
        </p:nvSpPr>
        <p:spPr>
          <a:xfrm>
            <a:off x="8275320" y="3886200"/>
            <a:ext cx="146304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BIC</a:t>
            </a:r>
            <a:endParaRPr lang="en-US" sz="1200" dirty="0"/>
          </a:p>
        </p:txBody>
      </p:sp>
      <p:sp>
        <p:nvSpPr>
          <p:cNvPr id="19" name="Text 16"/>
          <p:cNvSpPr/>
          <p:nvPr/>
        </p:nvSpPr>
        <p:spPr>
          <a:xfrm>
            <a:off x="9418320" y="3886200"/>
            <a:ext cx="1097280" cy="365760"/>
          </a:xfrm>
          <a:prstGeom prst="rect">
            <a:avLst/>
          </a:prstGeom>
          <a:noFill/>
          <a:ln/>
        </p:spPr>
        <p:txBody>
          <a:bodyPr wrap="square" rtlCol="0" anchor="ctr"/>
          <a:lstStyle/>
          <a:p>
            <a:pPr marL="0" indent="0" algn="ctr">
              <a:buNone/>
            </a:pPr>
            <a:r>
              <a:rPr lang="en-US" sz="1200" dirty="0">
                <a:solidFill>
                  <a:srgbClr val="C4D2E6"/>
                </a:solidFill>
                <a:latin typeface="Calibri" pitchFamily="34" charset="0"/>
                <a:ea typeface="Calibri" pitchFamily="34" charset="-122"/>
                <a:cs typeface="Calibri" pitchFamily="34" charset="-120"/>
              </a:rPr>
              <a:t>54,069.0</a:t>
            </a:r>
            <a:endParaRPr lang="en-US" sz="1200" dirty="0"/>
          </a:p>
        </p:txBody>
      </p:sp>
      <p:sp>
        <p:nvSpPr>
          <p:cNvPr id="20" name="Text 17"/>
          <p:cNvSpPr/>
          <p:nvPr/>
        </p:nvSpPr>
        <p:spPr>
          <a:xfrm>
            <a:off x="10332720" y="3886200"/>
            <a:ext cx="1188720" cy="365760"/>
          </a:xfrm>
          <a:prstGeom prst="rect">
            <a:avLst/>
          </a:prstGeom>
          <a:noFill/>
          <a:ln/>
        </p:spPr>
        <p:txBody>
          <a:bodyPr wrap="square" rtlCol="0" anchor="ctr"/>
          <a:lstStyle/>
          <a:p>
            <a:pPr marL="0" indent="0" algn="ctr">
              <a:buNone/>
            </a:pPr>
            <a:r>
              <a:rPr lang="en-US" sz="1200" b="1" dirty="0">
                <a:solidFill>
                  <a:srgbClr val="00C2D1"/>
                </a:solidFill>
                <a:latin typeface="Calibri" pitchFamily="34" charset="0"/>
                <a:ea typeface="Calibri" pitchFamily="34" charset="-122"/>
                <a:cs typeface="Calibri" pitchFamily="34" charset="-120"/>
              </a:rPr>
              <a:t>48,539.0</a:t>
            </a:r>
            <a:endParaRPr lang="en-US" sz="1200" dirty="0"/>
          </a:p>
        </p:txBody>
      </p:sp>
      <p:sp>
        <p:nvSpPr>
          <p:cNvPr id="21" name="Text 18"/>
          <p:cNvSpPr/>
          <p:nvPr/>
        </p:nvSpPr>
        <p:spPr>
          <a:xfrm>
            <a:off x="6858000" y="4526280"/>
            <a:ext cx="4572000" cy="868680"/>
          </a:xfrm>
          <a:prstGeom prst="rect">
            <a:avLst/>
          </a:prstGeom>
          <a:noFill/>
          <a:ln/>
        </p:spPr>
        <p:txBody>
          <a:bodyPr wrap="square" rtlCol="0" anchor="ctr"/>
          <a:lstStyle/>
          <a:p>
            <a:pPr marL="0" indent="0">
              <a:buNone/>
            </a:pPr>
            <a:r>
              <a:rPr lang="en-US" sz="1080" i="1" dirty="0">
                <a:solidFill>
                  <a:srgbClr val="B9C6DA"/>
                </a:solidFill>
                <a:latin typeface="Calibri" pitchFamily="34" charset="0"/>
                <a:ea typeface="Calibri" pitchFamily="34" charset="-122"/>
                <a:cs typeface="Calibri" pitchFamily="34" charset="-120"/>
              </a:rPr>
              <a:t>SARIMA's much lower AIC/BIC and positive R² confirm the 24-hour seasonal terms materially improve fit — selected as the final forecasting model.</a:t>
            </a:r>
            <a:endParaRPr lang="en-US" sz="1080" dirty="0"/>
          </a:p>
        </p:txBody>
      </p:sp>
      <p:sp>
        <p:nvSpPr>
          <p:cNvPr id="22" name="Text 19"/>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FORECASTING - VALIDATION</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Residual Diagnostics Support the SARIMA Fit</a:t>
            </a:r>
            <a:endParaRPr lang="en-US" sz="3000" dirty="0"/>
          </a:p>
        </p:txBody>
      </p:sp>
      <p:sp>
        <p:nvSpPr>
          <p:cNvPr id="4" name="Shape 2"/>
          <p:cNvSpPr/>
          <p:nvPr/>
        </p:nvSpPr>
        <p:spPr>
          <a:xfrm>
            <a:off x="548640" y="1572768"/>
            <a:ext cx="2542032" cy="4299321"/>
          </a:xfrm>
          <a:prstGeom prst="roundRect">
            <a:avLst>
              <a:gd name="adj" fmla="val 2878"/>
            </a:avLst>
          </a:prstGeom>
          <a:solidFill>
            <a:srgbClr val="FFFFFF"/>
          </a:solidFill>
          <a:ln/>
          <a:effectLst>
            <a:outerShdw blurRad="101600" dist="38100" dir="5400000" algn="bl" rotWithShape="0">
              <a:srgbClr val="0B1F3A">
                <a:alpha val="10000"/>
              </a:srgbClr>
            </a:outerShdw>
          </a:effectLst>
        </p:spPr>
        <p:txBody>
          <a:bodyPr/>
          <a:lstStyle/>
          <a:p>
            <a:endParaRPr lang="en-US" dirty="0"/>
          </a:p>
        </p:txBody>
      </p:sp>
      <p:sp>
        <p:nvSpPr>
          <p:cNvPr id="7" name="Text 4"/>
          <p:cNvSpPr/>
          <p:nvPr/>
        </p:nvSpPr>
        <p:spPr>
          <a:xfrm>
            <a:off x="804672" y="3108960"/>
            <a:ext cx="2029968" cy="502920"/>
          </a:xfrm>
          <a:prstGeom prst="rect">
            <a:avLst/>
          </a:prstGeom>
          <a:noFill/>
          <a:ln/>
        </p:spPr>
        <p:txBody>
          <a:bodyPr wrap="square" rtlCol="0" anchor="ctr"/>
          <a:lstStyle/>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r>
              <a:rPr lang="en-US" sz="1280" b="1" dirty="0">
                <a:solidFill>
                  <a:srgbClr val="1B2430"/>
                </a:solidFill>
                <a:latin typeface="Cambria" pitchFamily="34" charset="0"/>
                <a:ea typeface="Cambria" pitchFamily="34" charset="-122"/>
                <a:cs typeface="Cambria" pitchFamily="34" charset="-120"/>
              </a:rPr>
              <a:t>Standardized Residuals</a:t>
            </a:r>
            <a:endParaRPr lang="en-US" sz="1280" dirty="0"/>
          </a:p>
        </p:txBody>
      </p:sp>
      <p:sp>
        <p:nvSpPr>
          <p:cNvPr id="8" name="Text 5"/>
          <p:cNvSpPr/>
          <p:nvPr/>
        </p:nvSpPr>
        <p:spPr>
          <a:xfrm>
            <a:off x="804672" y="3657600"/>
            <a:ext cx="2029968" cy="1965960"/>
          </a:xfrm>
          <a:prstGeom prst="rect">
            <a:avLst/>
          </a:prstGeom>
          <a:noFill/>
          <a:ln/>
        </p:spPr>
        <p:txBody>
          <a:bodyPr wrap="square" rtlCol="0" anchor="ctr"/>
          <a:lstStyle/>
          <a:p>
            <a:pPr marL="0" indent="0">
              <a:buNone/>
            </a:pPr>
            <a:r>
              <a:rPr lang="en-US" sz="1030" dirty="0">
                <a:solidFill>
                  <a:schemeClr val="accent1">
                    <a:lumMod val="75000"/>
                  </a:schemeClr>
                </a:solidFill>
                <a:latin typeface="Calibri" pitchFamily="34" charset="0"/>
                <a:ea typeface="Calibri" pitchFamily="34" charset="-122"/>
                <a:cs typeface="Calibri" pitchFamily="34" charset="-120"/>
              </a:rPr>
              <a:t>Fluctuate randomly around zero with no remaining trend or seasonal pattern — the model captured both components.</a:t>
            </a:r>
            <a:endParaRPr lang="en-US" sz="1030" dirty="0">
              <a:solidFill>
                <a:schemeClr val="accent1">
                  <a:lumMod val="75000"/>
                </a:schemeClr>
              </a:solidFill>
            </a:endParaRPr>
          </a:p>
        </p:txBody>
      </p:sp>
      <p:sp>
        <p:nvSpPr>
          <p:cNvPr id="9" name="Shape 6"/>
          <p:cNvSpPr/>
          <p:nvPr/>
        </p:nvSpPr>
        <p:spPr>
          <a:xfrm>
            <a:off x="3236976" y="1572768"/>
            <a:ext cx="2542032" cy="4279392"/>
          </a:xfrm>
          <a:prstGeom prst="roundRect">
            <a:avLst>
              <a:gd name="adj" fmla="val 2878"/>
            </a:avLst>
          </a:prstGeom>
          <a:solidFill>
            <a:srgbClr val="FFFFFF"/>
          </a:solidFill>
          <a:ln/>
          <a:effectLst>
            <a:outerShdw blurRad="101600" dist="38100" dir="5400000" algn="bl" rotWithShape="0">
              <a:srgbClr val="0B1F3A">
                <a:alpha val="10000"/>
              </a:srgbClr>
            </a:outerShdw>
          </a:effectLst>
        </p:spPr>
      </p:sp>
      <p:sp>
        <p:nvSpPr>
          <p:cNvPr id="12" name="Text 8"/>
          <p:cNvSpPr/>
          <p:nvPr/>
        </p:nvSpPr>
        <p:spPr>
          <a:xfrm>
            <a:off x="3493008" y="3108960"/>
            <a:ext cx="2029968" cy="502920"/>
          </a:xfrm>
          <a:prstGeom prst="rect">
            <a:avLst/>
          </a:prstGeom>
          <a:noFill/>
          <a:ln/>
        </p:spPr>
        <p:txBody>
          <a:bodyPr wrap="square" rtlCol="0" anchor="ctr"/>
          <a:lstStyle/>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r>
              <a:rPr lang="en-US" sz="1280" b="1" dirty="0">
                <a:solidFill>
                  <a:srgbClr val="1B2430"/>
                </a:solidFill>
                <a:latin typeface="Cambria" pitchFamily="34" charset="0"/>
                <a:ea typeface="Cambria" pitchFamily="34" charset="-122"/>
                <a:cs typeface="Cambria" pitchFamily="34" charset="-120"/>
              </a:rPr>
              <a:t>Histogram &amp; Q-Q Plot</a:t>
            </a:r>
            <a:endParaRPr lang="en-US" sz="1280" dirty="0"/>
          </a:p>
        </p:txBody>
      </p:sp>
      <p:sp>
        <p:nvSpPr>
          <p:cNvPr id="13" name="Text 9"/>
          <p:cNvSpPr/>
          <p:nvPr/>
        </p:nvSpPr>
        <p:spPr>
          <a:xfrm>
            <a:off x="3493008" y="3657600"/>
            <a:ext cx="2029968" cy="1965960"/>
          </a:xfrm>
          <a:prstGeom prst="rect">
            <a:avLst/>
          </a:prstGeom>
          <a:noFill/>
          <a:ln/>
        </p:spPr>
        <p:txBody>
          <a:bodyPr wrap="square" rtlCol="0" anchor="ctr"/>
          <a:lstStyle/>
          <a:p>
            <a:pPr marL="0" indent="0">
              <a:buNone/>
            </a:pPr>
            <a:r>
              <a:rPr lang="en-US" sz="1050" dirty="0">
                <a:solidFill>
                  <a:schemeClr val="accent1">
                    <a:lumMod val="75000"/>
                  </a:schemeClr>
                </a:solidFill>
              </a:rPr>
              <a:t>The data are approximately centered around the theoretical distribution but show substantial tail deviations from normality. The pronounced S-shaped pattern indicates skewness and heavier-than-normal tails.</a:t>
            </a:r>
            <a:endParaRPr lang="en-US" sz="1030" dirty="0">
              <a:solidFill>
                <a:schemeClr val="accent1">
                  <a:lumMod val="75000"/>
                </a:schemeClr>
              </a:solidFill>
            </a:endParaRPr>
          </a:p>
        </p:txBody>
      </p:sp>
      <p:sp>
        <p:nvSpPr>
          <p:cNvPr id="14" name="Shape 10"/>
          <p:cNvSpPr/>
          <p:nvPr/>
        </p:nvSpPr>
        <p:spPr>
          <a:xfrm>
            <a:off x="5925312" y="1572768"/>
            <a:ext cx="2542032" cy="4279392"/>
          </a:xfrm>
          <a:prstGeom prst="roundRect">
            <a:avLst>
              <a:gd name="adj" fmla="val 2878"/>
            </a:avLst>
          </a:prstGeom>
          <a:solidFill>
            <a:srgbClr val="FFFFFF"/>
          </a:solidFill>
          <a:ln/>
          <a:effectLst>
            <a:outerShdw blurRad="101600" dist="38100" dir="5400000" algn="bl" rotWithShape="0">
              <a:srgbClr val="0B1F3A">
                <a:alpha val="10000"/>
              </a:srgbClr>
            </a:outerShdw>
          </a:effectLst>
        </p:spPr>
      </p:sp>
      <p:sp>
        <p:nvSpPr>
          <p:cNvPr id="17" name="Text 12"/>
          <p:cNvSpPr/>
          <p:nvPr/>
        </p:nvSpPr>
        <p:spPr>
          <a:xfrm>
            <a:off x="6181344" y="3108960"/>
            <a:ext cx="2029968" cy="502920"/>
          </a:xfrm>
          <a:prstGeom prst="rect">
            <a:avLst/>
          </a:prstGeom>
          <a:noFill/>
          <a:ln/>
        </p:spPr>
        <p:txBody>
          <a:bodyPr wrap="square" rtlCol="0" anchor="ctr"/>
          <a:lstStyle/>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r>
              <a:rPr lang="en-US" sz="1280" b="1" dirty="0">
                <a:solidFill>
                  <a:srgbClr val="1B2430"/>
                </a:solidFill>
                <a:latin typeface="Cambria" pitchFamily="34" charset="0"/>
                <a:ea typeface="Cambria" pitchFamily="34" charset="-122"/>
                <a:cs typeface="Cambria" pitchFamily="34" charset="-120"/>
              </a:rPr>
              <a:t>Residual ACF (Correlogram)</a:t>
            </a:r>
            <a:endParaRPr lang="en-US" sz="1280" dirty="0"/>
          </a:p>
        </p:txBody>
      </p:sp>
      <p:sp>
        <p:nvSpPr>
          <p:cNvPr id="18" name="Text 13"/>
          <p:cNvSpPr/>
          <p:nvPr/>
        </p:nvSpPr>
        <p:spPr>
          <a:xfrm>
            <a:off x="6181344" y="3657600"/>
            <a:ext cx="2029968" cy="1965960"/>
          </a:xfrm>
          <a:prstGeom prst="rect">
            <a:avLst/>
          </a:prstGeom>
          <a:noFill/>
          <a:ln/>
        </p:spPr>
        <p:txBody>
          <a:bodyPr wrap="square" rtlCol="0" anchor="ctr"/>
          <a:lstStyle/>
          <a:p>
            <a:pPr marL="0" indent="0">
              <a:buNone/>
            </a:pPr>
            <a:r>
              <a:rPr lang="en-US" sz="1030" dirty="0">
                <a:solidFill>
                  <a:schemeClr val="accent1">
                    <a:lumMod val="75000"/>
                  </a:schemeClr>
                </a:solidFill>
                <a:latin typeface="Calibri" pitchFamily="34" charset="0"/>
                <a:ea typeface="Calibri" pitchFamily="34" charset="-122"/>
                <a:cs typeface="Calibri" pitchFamily="34" charset="-120"/>
              </a:rPr>
              <a:t>Autocorrelations sit within confidence bounds at nearly every lag - little structure left unexplained.</a:t>
            </a:r>
            <a:endParaRPr lang="en-US" sz="1030" dirty="0">
              <a:solidFill>
                <a:schemeClr val="accent1">
                  <a:lumMod val="75000"/>
                </a:schemeClr>
              </a:solidFill>
            </a:endParaRPr>
          </a:p>
        </p:txBody>
      </p:sp>
      <p:sp>
        <p:nvSpPr>
          <p:cNvPr id="19" name="Shape 14"/>
          <p:cNvSpPr/>
          <p:nvPr/>
        </p:nvSpPr>
        <p:spPr>
          <a:xfrm>
            <a:off x="8613648" y="1572768"/>
            <a:ext cx="2542032" cy="4279392"/>
          </a:xfrm>
          <a:prstGeom prst="roundRect">
            <a:avLst>
              <a:gd name="adj" fmla="val 2878"/>
            </a:avLst>
          </a:prstGeom>
          <a:solidFill>
            <a:srgbClr val="FFFFFF"/>
          </a:solidFill>
          <a:ln/>
          <a:effectLst>
            <a:outerShdw blurRad="101600" dist="38100" dir="5400000" algn="bl" rotWithShape="0">
              <a:srgbClr val="0B1F3A">
                <a:alpha val="10000"/>
              </a:srgbClr>
            </a:outerShdw>
          </a:effectLst>
        </p:spPr>
      </p:sp>
      <p:sp>
        <p:nvSpPr>
          <p:cNvPr id="22" name="Text 16"/>
          <p:cNvSpPr/>
          <p:nvPr/>
        </p:nvSpPr>
        <p:spPr>
          <a:xfrm>
            <a:off x="8869680" y="3108960"/>
            <a:ext cx="2029968" cy="502920"/>
          </a:xfrm>
          <a:prstGeom prst="rect">
            <a:avLst/>
          </a:prstGeom>
          <a:noFill/>
          <a:ln/>
        </p:spPr>
        <p:txBody>
          <a:bodyPr wrap="square" rtlCol="0" anchor="ctr"/>
          <a:lstStyle/>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endParaRPr lang="en-US" sz="1280" b="1" dirty="0">
              <a:solidFill>
                <a:srgbClr val="1B2430"/>
              </a:solidFill>
              <a:latin typeface="Cambria" pitchFamily="34" charset="0"/>
              <a:ea typeface="Cambria" pitchFamily="34" charset="-122"/>
              <a:cs typeface="Cambria" pitchFamily="34" charset="-120"/>
            </a:endParaRPr>
          </a:p>
          <a:p>
            <a:pPr marL="0" indent="0">
              <a:buNone/>
            </a:pPr>
            <a:r>
              <a:rPr lang="en-US" sz="1280" b="1" dirty="0">
                <a:solidFill>
                  <a:srgbClr val="1B2430"/>
                </a:solidFill>
                <a:latin typeface="Cambria" pitchFamily="34" charset="0"/>
                <a:ea typeface="Cambria" pitchFamily="34" charset="-122"/>
                <a:cs typeface="Cambria" pitchFamily="34" charset="-120"/>
              </a:rPr>
              <a:t>Distribution Shape</a:t>
            </a:r>
            <a:endParaRPr lang="en-US" sz="1280" dirty="0"/>
          </a:p>
        </p:txBody>
      </p:sp>
      <p:sp>
        <p:nvSpPr>
          <p:cNvPr id="23" name="Text 17"/>
          <p:cNvSpPr/>
          <p:nvPr/>
        </p:nvSpPr>
        <p:spPr>
          <a:xfrm>
            <a:off x="8869680" y="3657600"/>
            <a:ext cx="2029968" cy="1965960"/>
          </a:xfrm>
          <a:prstGeom prst="rect">
            <a:avLst/>
          </a:prstGeom>
          <a:noFill/>
          <a:ln/>
        </p:spPr>
        <p:txBody>
          <a:bodyPr wrap="square" rtlCol="0" anchor="ctr"/>
          <a:lstStyle/>
          <a:p>
            <a:pPr marL="0" indent="0">
              <a:buNone/>
            </a:pPr>
            <a:r>
              <a:rPr lang="en-US" sz="1050" dirty="0">
                <a:solidFill>
                  <a:schemeClr val="accent1">
                    <a:lumMod val="75000"/>
                  </a:schemeClr>
                </a:solidFill>
              </a:rPr>
              <a:t>A slight right skew indicates that most observations are concentrated around the center, with a few larger positive values extending the right tail. This suggests occasional positive deviations from the overall distribution.</a:t>
            </a:r>
            <a:endParaRPr lang="en-US" sz="1030" dirty="0">
              <a:solidFill>
                <a:schemeClr val="accent1">
                  <a:lumMod val="75000"/>
                </a:schemeClr>
              </a:solidFill>
            </a:endParaRPr>
          </a:p>
        </p:txBody>
      </p:sp>
      <p:sp>
        <p:nvSpPr>
          <p:cNvPr id="24" name="Text 18"/>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pic>
        <p:nvPicPr>
          <p:cNvPr id="27" name="Picture 26">
            <a:extLst>
              <a:ext uri="{FF2B5EF4-FFF2-40B4-BE49-F238E27FC236}">
                <a16:creationId xmlns:a16="http://schemas.microsoft.com/office/drawing/2014/main" id="{05864D61-D982-49B1-9E28-6B8E75FF7448}"/>
              </a:ext>
            </a:extLst>
          </p:cNvPr>
          <p:cNvPicPr>
            <a:picLocks noChangeAspect="1"/>
          </p:cNvPicPr>
          <p:nvPr/>
        </p:nvPicPr>
        <p:blipFill>
          <a:blip r:embed="rId3"/>
          <a:stretch>
            <a:fillRect/>
          </a:stretch>
        </p:blipFill>
        <p:spPr>
          <a:xfrm>
            <a:off x="639192" y="1864311"/>
            <a:ext cx="2338094" cy="1747569"/>
          </a:xfrm>
          <a:prstGeom prst="rect">
            <a:avLst/>
          </a:prstGeom>
        </p:spPr>
      </p:pic>
      <p:pic>
        <p:nvPicPr>
          <p:cNvPr id="29" name="Picture 28">
            <a:extLst>
              <a:ext uri="{FF2B5EF4-FFF2-40B4-BE49-F238E27FC236}">
                <a16:creationId xmlns:a16="http://schemas.microsoft.com/office/drawing/2014/main" id="{A9823544-38F4-4DB0-BBD9-213C797F96B3}"/>
              </a:ext>
            </a:extLst>
          </p:cNvPr>
          <p:cNvPicPr>
            <a:picLocks noChangeAspect="1"/>
          </p:cNvPicPr>
          <p:nvPr/>
        </p:nvPicPr>
        <p:blipFill>
          <a:blip r:embed="rId4"/>
          <a:stretch>
            <a:fillRect/>
          </a:stretch>
        </p:blipFill>
        <p:spPr>
          <a:xfrm>
            <a:off x="3291840" y="1494213"/>
            <a:ext cx="2542032" cy="2047977"/>
          </a:xfrm>
          <a:prstGeom prst="rect">
            <a:avLst/>
          </a:prstGeom>
        </p:spPr>
      </p:pic>
      <p:pic>
        <p:nvPicPr>
          <p:cNvPr id="31" name="Picture 30">
            <a:extLst>
              <a:ext uri="{FF2B5EF4-FFF2-40B4-BE49-F238E27FC236}">
                <a16:creationId xmlns:a16="http://schemas.microsoft.com/office/drawing/2014/main" id="{EBA8458C-9E0F-4A05-BD77-5FE239B536D9}"/>
              </a:ext>
            </a:extLst>
          </p:cNvPr>
          <p:cNvPicPr>
            <a:picLocks noChangeAspect="1"/>
          </p:cNvPicPr>
          <p:nvPr/>
        </p:nvPicPr>
        <p:blipFill>
          <a:blip r:embed="rId5"/>
          <a:stretch>
            <a:fillRect/>
          </a:stretch>
        </p:blipFill>
        <p:spPr>
          <a:xfrm>
            <a:off x="6089904" y="1399669"/>
            <a:ext cx="2377440" cy="2029331"/>
          </a:xfrm>
          <a:prstGeom prst="rect">
            <a:avLst/>
          </a:prstGeom>
        </p:spPr>
      </p:pic>
      <p:pic>
        <p:nvPicPr>
          <p:cNvPr id="33" name="Picture 32">
            <a:extLst>
              <a:ext uri="{FF2B5EF4-FFF2-40B4-BE49-F238E27FC236}">
                <a16:creationId xmlns:a16="http://schemas.microsoft.com/office/drawing/2014/main" id="{27E55148-FDED-4679-8B80-6D59A847FBCE}"/>
              </a:ext>
            </a:extLst>
          </p:cNvPr>
          <p:cNvPicPr>
            <a:picLocks noChangeAspect="1"/>
          </p:cNvPicPr>
          <p:nvPr/>
        </p:nvPicPr>
        <p:blipFill>
          <a:blip r:embed="rId6"/>
          <a:stretch>
            <a:fillRect/>
          </a:stretch>
        </p:blipFill>
        <p:spPr>
          <a:xfrm>
            <a:off x="8683636" y="1494213"/>
            <a:ext cx="2472044" cy="22182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301752"/>
            <a:ext cx="5486400" cy="320040"/>
          </a:xfrm>
          <a:prstGeom prst="rect">
            <a:avLst/>
          </a:prstGeom>
          <a:noFill/>
          <a:ln/>
        </p:spPr>
        <p:txBody>
          <a:bodyPr wrap="square" rtlCol="0" anchor="ctr"/>
          <a:lstStyle/>
          <a:p>
            <a:pPr marL="0" indent="0">
              <a:buNone/>
            </a:pPr>
            <a:r>
              <a:rPr lang="en-US" sz="1200" b="1" kern="0" spc="200" dirty="0">
                <a:solidFill>
                  <a:srgbClr val="00C2D1"/>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658368"/>
            <a:ext cx="8686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548640" y="1920240"/>
            <a:ext cx="5394960" cy="1965960"/>
          </a:xfrm>
          <a:prstGeom prst="roundRect">
            <a:avLst>
              <a:gd name="adj" fmla="val 3721"/>
            </a:avLst>
          </a:prstGeom>
          <a:solidFill>
            <a:srgbClr val="1B3055"/>
          </a:solidFill>
          <a:ln/>
        </p:spPr>
      </p:sp>
      <p:sp>
        <p:nvSpPr>
          <p:cNvPr id="5" name="Shape 3"/>
          <p:cNvSpPr/>
          <p:nvPr/>
        </p:nvSpPr>
        <p:spPr>
          <a:xfrm>
            <a:off x="841248" y="2212848"/>
            <a:ext cx="548640" cy="548640"/>
          </a:xfrm>
          <a:prstGeom prst="ellipse">
            <a:avLst/>
          </a:prstGeom>
          <a:solidFill>
            <a:srgbClr val="13456B"/>
          </a:solidFill>
          <a:ln/>
        </p:spPr>
      </p:sp>
      <p:pic>
        <p:nvPicPr>
          <p:cNvPr id="6" name="Image 0" descr="preencoded.png"/>
          <p:cNvPicPr>
            <a:picLocks noChangeAspect="1"/>
          </p:cNvPicPr>
          <p:nvPr/>
        </p:nvPicPr>
        <p:blipFill>
          <a:blip r:embed="rId3"/>
          <a:stretch>
            <a:fillRect/>
          </a:stretch>
        </p:blipFill>
        <p:spPr>
          <a:xfrm>
            <a:off x="983894" y="2355494"/>
            <a:ext cx="263347" cy="263347"/>
          </a:xfrm>
          <a:prstGeom prst="rect">
            <a:avLst/>
          </a:prstGeom>
        </p:spPr>
      </p:pic>
      <p:sp>
        <p:nvSpPr>
          <p:cNvPr id="7" name="Text 4"/>
          <p:cNvSpPr/>
          <p:nvPr/>
        </p:nvSpPr>
        <p:spPr>
          <a:xfrm>
            <a:off x="1554480" y="2194560"/>
            <a:ext cx="4114800" cy="59436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Distinct usage regimes exist</a:t>
            </a:r>
            <a:endParaRPr lang="en-US" sz="1450" dirty="0"/>
          </a:p>
        </p:txBody>
      </p:sp>
      <p:sp>
        <p:nvSpPr>
          <p:cNvPr id="8" name="Text 5"/>
          <p:cNvSpPr/>
          <p:nvPr/>
        </p:nvSpPr>
        <p:spPr>
          <a:xfrm>
            <a:off x="841248" y="2880360"/>
            <a:ext cx="4809744" cy="914400"/>
          </a:xfrm>
          <a:prstGeom prst="rect">
            <a:avLst/>
          </a:prstGeom>
          <a:noFill/>
          <a:ln/>
        </p:spPr>
        <p:txBody>
          <a:bodyPr wrap="square" rtlCol="0" anchor="ctr"/>
          <a:lstStyle/>
          <a:p>
            <a:pPr marL="0" indent="0">
              <a:buNone/>
            </a:pPr>
            <a:r>
              <a:rPr lang="en-US" sz="1150" dirty="0">
                <a:solidFill>
                  <a:srgbClr val="C4D2E6"/>
                </a:solidFill>
                <a:latin typeface="Calibri" pitchFamily="34" charset="0"/>
                <a:ea typeface="Calibri" pitchFamily="34" charset="-122"/>
                <a:cs typeface="Calibri" pitchFamily="34" charset="-120"/>
              </a:rPr>
              <a:t>K-Means on Kernel PCA features cleanly separates Very Low through High consumption hours (silhouette 0.78).</a:t>
            </a:r>
            <a:endParaRPr lang="en-US" sz="1150" dirty="0"/>
          </a:p>
        </p:txBody>
      </p:sp>
      <p:sp>
        <p:nvSpPr>
          <p:cNvPr id="9" name="Shape 6"/>
          <p:cNvSpPr/>
          <p:nvPr/>
        </p:nvSpPr>
        <p:spPr>
          <a:xfrm>
            <a:off x="6217920" y="1920240"/>
            <a:ext cx="5394960" cy="1965960"/>
          </a:xfrm>
          <a:prstGeom prst="roundRect">
            <a:avLst>
              <a:gd name="adj" fmla="val 3721"/>
            </a:avLst>
          </a:prstGeom>
          <a:solidFill>
            <a:srgbClr val="12294D"/>
          </a:solidFill>
          <a:ln/>
        </p:spPr>
      </p:sp>
      <p:sp>
        <p:nvSpPr>
          <p:cNvPr id="10" name="Shape 7"/>
          <p:cNvSpPr/>
          <p:nvPr/>
        </p:nvSpPr>
        <p:spPr>
          <a:xfrm>
            <a:off x="6510528" y="2212848"/>
            <a:ext cx="548640" cy="548640"/>
          </a:xfrm>
          <a:prstGeom prst="ellipse">
            <a:avLst/>
          </a:prstGeom>
          <a:solidFill>
            <a:srgbClr val="13456B"/>
          </a:solidFill>
          <a:ln/>
        </p:spPr>
      </p:sp>
      <p:pic>
        <p:nvPicPr>
          <p:cNvPr id="11" name="Image 1" descr="preencoded.png"/>
          <p:cNvPicPr>
            <a:picLocks noChangeAspect="1"/>
          </p:cNvPicPr>
          <p:nvPr/>
        </p:nvPicPr>
        <p:blipFill>
          <a:blip r:embed="rId4"/>
          <a:stretch>
            <a:fillRect/>
          </a:stretch>
        </p:blipFill>
        <p:spPr>
          <a:xfrm>
            <a:off x="6653174" y="2355494"/>
            <a:ext cx="263347" cy="263347"/>
          </a:xfrm>
          <a:prstGeom prst="rect">
            <a:avLst/>
          </a:prstGeom>
        </p:spPr>
      </p:pic>
      <p:sp>
        <p:nvSpPr>
          <p:cNvPr id="12" name="Text 8"/>
          <p:cNvSpPr/>
          <p:nvPr/>
        </p:nvSpPr>
        <p:spPr>
          <a:xfrm>
            <a:off x="7223760" y="2194560"/>
            <a:ext cx="4114800" cy="59436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Consumption is daily-seasonal</a:t>
            </a:r>
            <a:endParaRPr lang="en-US" sz="1450" dirty="0"/>
          </a:p>
        </p:txBody>
      </p:sp>
      <p:sp>
        <p:nvSpPr>
          <p:cNvPr id="13" name="Text 9"/>
          <p:cNvSpPr/>
          <p:nvPr/>
        </p:nvSpPr>
        <p:spPr>
          <a:xfrm>
            <a:off x="6510528" y="2880360"/>
            <a:ext cx="4809744" cy="914400"/>
          </a:xfrm>
          <a:prstGeom prst="rect">
            <a:avLst/>
          </a:prstGeom>
          <a:noFill/>
          <a:ln/>
        </p:spPr>
        <p:txBody>
          <a:bodyPr wrap="square" rtlCol="0" anchor="ctr"/>
          <a:lstStyle/>
          <a:p>
            <a:pPr marL="0" indent="0">
              <a:buNone/>
            </a:pPr>
            <a:r>
              <a:rPr lang="en-US" sz="1150" dirty="0">
                <a:solidFill>
                  <a:srgbClr val="C4D2E6"/>
                </a:solidFill>
                <a:latin typeface="Calibri" pitchFamily="34" charset="0"/>
                <a:ea typeface="Calibri" pitchFamily="34" charset="-122"/>
                <a:cs typeface="Calibri" pitchFamily="34" charset="-120"/>
              </a:rPr>
              <a:t>STL and ACF/PACF confirm a strong 24-hour cycle layered on short-memory, stationary behaviour.</a:t>
            </a:r>
            <a:endParaRPr lang="en-US" sz="1150" dirty="0"/>
          </a:p>
        </p:txBody>
      </p:sp>
      <p:sp>
        <p:nvSpPr>
          <p:cNvPr id="14" name="Shape 10"/>
          <p:cNvSpPr/>
          <p:nvPr/>
        </p:nvSpPr>
        <p:spPr>
          <a:xfrm>
            <a:off x="548640" y="4160520"/>
            <a:ext cx="5394960" cy="1965960"/>
          </a:xfrm>
          <a:prstGeom prst="roundRect">
            <a:avLst>
              <a:gd name="adj" fmla="val 3721"/>
            </a:avLst>
          </a:prstGeom>
          <a:solidFill>
            <a:srgbClr val="12294D"/>
          </a:solidFill>
          <a:ln/>
        </p:spPr>
      </p:sp>
      <p:sp>
        <p:nvSpPr>
          <p:cNvPr id="15" name="Shape 11"/>
          <p:cNvSpPr/>
          <p:nvPr/>
        </p:nvSpPr>
        <p:spPr>
          <a:xfrm>
            <a:off x="841248" y="4453128"/>
            <a:ext cx="548640" cy="548640"/>
          </a:xfrm>
          <a:prstGeom prst="ellipse">
            <a:avLst/>
          </a:prstGeom>
          <a:solidFill>
            <a:srgbClr val="13456B"/>
          </a:solidFill>
          <a:ln/>
        </p:spPr>
      </p:sp>
      <p:pic>
        <p:nvPicPr>
          <p:cNvPr id="16" name="Image 2" descr="preencoded.png"/>
          <p:cNvPicPr>
            <a:picLocks noChangeAspect="1"/>
          </p:cNvPicPr>
          <p:nvPr/>
        </p:nvPicPr>
        <p:blipFill>
          <a:blip r:embed="rId5"/>
          <a:stretch>
            <a:fillRect/>
          </a:stretch>
        </p:blipFill>
        <p:spPr>
          <a:xfrm>
            <a:off x="983894" y="4595774"/>
            <a:ext cx="263347" cy="263347"/>
          </a:xfrm>
          <a:prstGeom prst="rect">
            <a:avLst/>
          </a:prstGeom>
        </p:spPr>
      </p:pic>
      <p:sp>
        <p:nvSpPr>
          <p:cNvPr id="17" name="Text 12"/>
          <p:cNvSpPr/>
          <p:nvPr/>
        </p:nvSpPr>
        <p:spPr>
          <a:xfrm>
            <a:off x="1554480" y="4434840"/>
            <a:ext cx="4114800" cy="59436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SARIMA is the right forecast model</a:t>
            </a:r>
            <a:endParaRPr lang="en-US" sz="1450" dirty="0"/>
          </a:p>
        </p:txBody>
      </p:sp>
      <p:sp>
        <p:nvSpPr>
          <p:cNvPr id="18" name="Text 13"/>
          <p:cNvSpPr/>
          <p:nvPr/>
        </p:nvSpPr>
        <p:spPr>
          <a:xfrm>
            <a:off x="841248" y="5120640"/>
            <a:ext cx="4809744" cy="914400"/>
          </a:xfrm>
          <a:prstGeom prst="rect">
            <a:avLst/>
          </a:prstGeom>
          <a:noFill/>
          <a:ln/>
        </p:spPr>
        <p:txBody>
          <a:bodyPr wrap="square" rtlCol="0" anchor="ctr"/>
          <a:lstStyle/>
          <a:p>
            <a:pPr marL="0" indent="0">
              <a:buNone/>
            </a:pPr>
            <a:r>
              <a:rPr lang="en-US" sz="1150" dirty="0">
                <a:solidFill>
                  <a:srgbClr val="C4D2E6"/>
                </a:solidFill>
                <a:latin typeface="Calibri" pitchFamily="34" charset="0"/>
                <a:ea typeface="Calibri" pitchFamily="34" charset="-122"/>
                <a:cs typeface="Calibri" pitchFamily="34" charset="-120"/>
              </a:rPr>
              <a:t>Seasonal terms cut RMSE from 0.74 to 0.69 kW and flip R² positive versus plain ARIMA.</a:t>
            </a:r>
            <a:endParaRPr lang="en-US" sz="1150" dirty="0"/>
          </a:p>
        </p:txBody>
      </p:sp>
      <p:sp>
        <p:nvSpPr>
          <p:cNvPr id="19" name="Shape 14"/>
          <p:cNvSpPr/>
          <p:nvPr/>
        </p:nvSpPr>
        <p:spPr>
          <a:xfrm>
            <a:off x="6217920" y="4160520"/>
            <a:ext cx="5394960" cy="1965960"/>
          </a:xfrm>
          <a:prstGeom prst="roundRect">
            <a:avLst>
              <a:gd name="adj" fmla="val 3721"/>
            </a:avLst>
          </a:prstGeom>
          <a:solidFill>
            <a:srgbClr val="12294D"/>
          </a:solidFill>
          <a:ln/>
        </p:spPr>
      </p:sp>
      <p:sp>
        <p:nvSpPr>
          <p:cNvPr id="20" name="Shape 15"/>
          <p:cNvSpPr/>
          <p:nvPr/>
        </p:nvSpPr>
        <p:spPr>
          <a:xfrm>
            <a:off x="6510528" y="4453128"/>
            <a:ext cx="548640" cy="548640"/>
          </a:xfrm>
          <a:prstGeom prst="ellipse">
            <a:avLst/>
          </a:prstGeom>
          <a:solidFill>
            <a:srgbClr val="13456B"/>
          </a:solidFill>
          <a:ln/>
        </p:spPr>
      </p:sp>
      <p:pic>
        <p:nvPicPr>
          <p:cNvPr id="21" name="Image 3" descr="preencoded.png"/>
          <p:cNvPicPr>
            <a:picLocks noChangeAspect="1"/>
          </p:cNvPicPr>
          <p:nvPr/>
        </p:nvPicPr>
        <p:blipFill>
          <a:blip r:embed="rId6"/>
          <a:stretch>
            <a:fillRect/>
          </a:stretch>
        </p:blipFill>
        <p:spPr>
          <a:xfrm>
            <a:off x="6653174" y="4595774"/>
            <a:ext cx="263347" cy="263347"/>
          </a:xfrm>
          <a:prstGeom prst="rect">
            <a:avLst/>
          </a:prstGeom>
        </p:spPr>
      </p:pic>
      <p:sp>
        <p:nvSpPr>
          <p:cNvPr id="22" name="Text 16"/>
          <p:cNvSpPr/>
          <p:nvPr/>
        </p:nvSpPr>
        <p:spPr>
          <a:xfrm>
            <a:off x="7223760" y="4434840"/>
            <a:ext cx="4114800" cy="59436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Peaks remain the hard part</a:t>
            </a:r>
            <a:endParaRPr lang="en-US" sz="1450" dirty="0"/>
          </a:p>
        </p:txBody>
      </p:sp>
      <p:sp>
        <p:nvSpPr>
          <p:cNvPr id="23" name="Text 17"/>
          <p:cNvSpPr/>
          <p:nvPr/>
        </p:nvSpPr>
        <p:spPr>
          <a:xfrm>
            <a:off x="6510528" y="5120640"/>
            <a:ext cx="4809744" cy="914400"/>
          </a:xfrm>
          <a:prstGeom prst="rect">
            <a:avLst/>
          </a:prstGeom>
          <a:noFill/>
          <a:ln/>
        </p:spPr>
        <p:txBody>
          <a:bodyPr wrap="square" rtlCol="0" anchor="ctr"/>
          <a:lstStyle/>
          <a:p>
            <a:pPr marL="0" indent="0">
              <a:buNone/>
            </a:pPr>
            <a:r>
              <a:rPr lang="en-US" sz="1150" dirty="0">
                <a:solidFill>
                  <a:srgbClr val="C4D2E6"/>
                </a:solidFill>
                <a:latin typeface="Calibri" pitchFamily="34" charset="0"/>
                <a:ea typeface="Calibri" pitchFamily="34" charset="-122"/>
                <a:cs typeface="Calibri" pitchFamily="34" charset="-120"/>
              </a:rPr>
              <a:t>Diagnostics show a well-fit model overall, but sudden high-usage spikes are still under-predicted.</a:t>
            </a:r>
            <a:endParaRPr lang="en-US" sz="1150" dirty="0"/>
          </a:p>
        </p:txBody>
      </p:sp>
      <p:sp>
        <p:nvSpPr>
          <p:cNvPr id="24" name="Text 18"/>
          <p:cNvSpPr/>
          <p:nvPr/>
        </p:nvSpPr>
        <p:spPr>
          <a:xfrm>
            <a:off x="11475720" y="6400800"/>
            <a:ext cx="45720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62746">
            <a:alpha val="99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E98002-D087-405C-832E-05BDEF87C836}"/>
              </a:ext>
            </a:extLst>
          </p:cNvPr>
          <p:cNvSpPr txBox="1"/>
          <p:nvPr/>
        </p:nvSpPr>
        <p:spPr>
          <a:xfrm>
            <a:off x="144885" y="137227"/>
            <a:ext cx="11842899" cy="553998"/>
          </a:xfrm>
          <a:prstGeom prst="rect">
            <a:avLst/>
          </a:prstGeom>
          <a:noFill/>
        </p:spPr>
        <p:txBody>
          <a:bodyPr wrap="square" rtlCol="0">
            <a:spAutoFit/>
          </a:bodyPr>
          <a:lstStyle/>
          <a:p>
            <a:r>
              <a:rPr lang="en-US" sz="1200" b="1" kern="0" spc="200" dirty="0">
                <a:solidFill>
                  <a:srgbClr val="00C2D1"/>
                </a:solidFill>
                <a:latin typeface="Calibri" pitchFamily="34" charset="0"/>
                <a:ea typeface="Calibri" pitchFamily="34" charset="-122"/>
                <a:cs typeface="Calibri" pitchFamily="34" charset="-120"/>
              </a:rPr>
              <a:t>CONCLUSION</a:t>
            </a:r>
            <a:endParaRPr lang="en-US" sz="1200" dirty="0"/>
          </a:p>
          <a:p>
            <a:endParaRPr lang="en-US" dirty="0"/>
          </a:p>
        </p:txBody>
      </p:sp>
      <p:sp>
        <p:nvSpPr>
          <p:cNvPr id="4" name="TextBox 3">
            <a:extLst>
              <a:ext uri="{FF2B5EF4-FFF2-40B4-BE49-F238E27FC236}">
                <a16:creationId xmlns:a16="http://schemas.microsoft.com/office/drawing/2014/main" id="{A1886D4A-7923-4F64-ADF8-B8EF4677BA51}"/>
              </a:ext>
            </a:extLst>
          </p:cNvPr>
          <p:cNvSpPr txBox="1"/>
          <p:nvPr/>
        </p:nvSpPr>
        <p:spPr>
          <a:xfrm>
            <a:off x="144885" y="539029"/>
            <a:ext cx="11786616" cy="830997"/>
          </a:xfrm>
          <a:prstGeom prst="rect">
            <a:avLst/>
          </a:prstGeom>
          <a:noFill/>
        </p:spPr>
        <p:txBody>
          <a:bodyPr wrap="square" rtlCol="0">
            <a:spAutoFit/>
          </a:bodyPr>
          <a:lstStyle/>
          <a:p>
            <a:r>
              <a:rPr lang="en-US" sz="3000" b="1" dirty="0">
                <a:solidFill>
                  <a:schemeClr val="bg1">
                    <a:lumMod val="95000"/>
                  </a:schemeClr>
                </a:solidFill>
                <a:latin typeface="Cambria" panose="02040503050406030204" pitchFamily="18" charset="0"/>
                <a:ea typeface="Cambria" panose="02040503050406030204" pitchFamily="18" charset="0"/>
              </a:rPr>
              <a:t>Business Impact</a:t>
            </a:r>
          </a:p>
          <a:p>
            <a:endParaRPr lang="en-US" dirty="0"/>
          </a:p>
        </p:txBody>
      </p:sp>
      <p:sp>
        <p:nvSpPr>
          <p:cNvPr id="10" name="Rectangle 9">
            <a:extLst>
              <a:ext uri="{FF2B5EF4-FFF2-40B4-BE49-F238E27FC236}">
                <a16:creationId xmlns:a16="http://schemas.microsoft.com/office/drawing/2014/main" id="{4EDF3919-C94A-4258-827A-DA962D51D61D}"/>
              </a:ext>
            </a:extLst>
          </p:cNvPr>
          <p:cNvSpPr/>
          <p:nvPr/>
        </p:nvSpPr>
        <p:spPr>
          <a:xfrm>
            <a:off x="464217" y="2197698"/>
            <a:ext cx="5632052" cy="1685348"/>
          </a:xfrm>
          <a:prstGeom prst="rect">
            <a:avLst/>
          </a:prstGeom>
          <a:solidFill>
            <a:srgbClr val="1B3055"/>
          </a:solidFill>
          <a:ln>
            <a:solidFill>
              <a:srgbClr val="1627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50" dirty="0"/>
          </a:p>
          <a:p>
            <a:r>
              <a:rPr lang="en-US" sz="1450" dirty="0"/>
              <a:t>                              </a:t>
            </a:r>
            <a:r>
              <a:rPr lang="en-US" sz="1600" b="1" dirty="0">
                <a:latin typeface="Cambria" panose="02040503050406030204" pitchFamily="18" charset="0"/>
                <a:ea typeface="Cambria" panose="02040503050406030204" pitchFamily="18" charset="0"/>
              </a:rPr>
              <a:t>Reduce Operating Cost</a:t>
            </a:r>
            <a:endParaRPr lang="en-US" sz="1450" b="1" dirty="0">
              <a:latin typeface="Cambria" panose="02040503050406030204" pitchFamily="18" charset="0"/>
              <a:ea typeface="Cambria" panose="02040503050406030204" pitchFamily="18" charset="0"/>
            </a:endParaRPr>
          </a:p>
          <a:p>
            <a:endParaRPr lang="en-US" sz="1450" dirty="0"/>
          </a:p>
          <a:p>
            <a:endParaRPr lang="en-US" sz="1450" dirty="0"/>
          </a:p>
          <a:p>
            <a:r>
              <a:rPr lang="en-US" sz="1150" dirty="0">
                <a:latin typeface="Cambria" panose="02040503050406030204" pitchFamily="18" charset="0"/>
                <a:ea typeface="Cambria" panose="02040503050406030204" pitchFamily="18" charset="0"/>
              </a:rPr>
              <a:t>Better demand predictions help companies use their resources more efficiently, reducing unnecessary operational costs.</a:t>
            </a:r>
            <a:endParaRPr lang="en-US" sz="1150" dirty="0">
              <a:solidFill>
                <a:schemeClr val="accent1">
                  <a:lumMod val="50000"/>
                </a:schemeClr>
              </a:solidFill>
              <a:latin typeface="Cambria" panose="02040503050406030204" pitchFamily="18" charset="0"/>
              <a:ea typeface="Cambria" panose="02040503050406030204" pitchFamily="18" charset="0"/>
            </a:endParaRPr>
          </a:p>
        </p:txBody>
      </p:sp>
      <p:sp>
        <p:nvSpPr>
          <p:cNvPr id="11" name="Rectangle 10">
            <a:extLst>
              <a:ext uri="{FF2B5EF4-FFF2-40B4-BE49-F238E27FC236}">
                <a16:creationId xmlns:a16="http://schemas.microsoft.com/office/drawing/2014/main" id="{CD12F13F-3968-4BE3-B223-1F5D14D94DC1}"/>
              </a:ext>
            </a:extLst>
          </p:cNvPr>
          <p:cNvSpPr/>
          <p:nvPr/>
        </p:nvSpPr>
        <p:spPr>
          <a:xfrm>
            <a:off x="6236315" y="2157678"/>
            <a:ext cx="5478248" cy="1720104"/>
          </a:xfrm>
          <a:prstGeom prst="rect">
            <a:avLst/>
          </a:prstGeom>
          <a:solidFill>
            <a:srgbClr val="1B3055"/>
          </a:solidFill>
          <a:ln>
            <a:solidFill>
              <a:srgbClr val="1627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sz="1150" dirty="0"/>
          </a:p>
          <a:p>
            <a:endParaRPr lang="en-US" sz="1150" dirty="0"/>
          </a:p>
          <a:p>
            <a:r>
              <a:rPr lang="en-US" sz="1150" dirty="0"/>
              <a:t>Household consumption regimes support targeted tariffs, energy-saving programs, and personalized customer engagement.</a:t>
            </a:r>
          </a:p>
        </p:txBody>
      </p:sp>
      <p:sp>
        <p:nvSpPr>
          <p:cNvPr id="12" name="Rectangle 11">
            <a:extLst>
              <a:ext uri="{FF2B5EF4-FFF2-40B4-BE49-F238E27FC236}">
                <a16:creationId xmlns:a16="http://schemas.microsoft.com/office/drawing/2014/main" id="{48B9995C-1E8B-4867-A242-AE9546BBDFE4}"/>
              </a:ext>
            </a:extLst>
          </p:cNvPr>
          <p:cNvSpPr/>
          <p:nvPr/>
        </p:nvSpPr>
        <p:spPr>
          <a:xfrm>
            <a:off x="6236314" y="4616614"/>
            <a:ext cx="5411790" cy="1799951"/>
          </a:xfrm>
          <a:prstGeom prst="rect">
            <a:avLst/>
          </a:prstGeom>
          <a:solidFill>
            <a:srgbClr val="1B3055"/>
          </a:solidFill>
          <a:ln>
            <a:solidFill>
              <a:srgbClr val="1627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endParaRPr lang="en-US" sz="1150" dirty="0">
              <a:latin typeface="Cambria" panose="02040503050406030204" pitchFamily="18" charset="0"/>
              <a:ea typeface="Cambria" panose="02040503050406030204" pitchFamily="18" charset="0"/>
            </a:endParaRPr>
          </a:p>
          <a:p>
            <a:r>
              <a:rPr lang="en-US" sz="1200" dirty="0">
                <a:latin typeface="Cambria" panose="02040503050406030204" pitchFamily="18" charset="0"/>
                <a:ea typeface="Cambria" panose="02040503050406030204" pitchFamily="18" charset="0"/>
              </a:rPr>
              <a:t>Forecasting future electricity demand helps utility companies plan electricity generation and avoid power shortages</a:t>
            </a:r>
            <a:endParaRPr lang="en-US" sz="1150" dirty="0">
              <a:latin typeface="Cambria" panose="02040503050406030204" pitchFamily="18" charset="0"/>
              <a:ea typeface="Cambria" panose="02040503050406030204" pitchFamily="18" charset="0"/>
            </a:endParaRPr>
          </a:p>
        </p:txBody>
      </p:sp>
      <p:sp>
        <p:nvSpPr>
          <p:cNvPr id="13" name="Rectangle 12">
            <a:extLst>
              <a:ext uri="{FF2B5EF4-FFF2-40B4-BE49-F238E27FC236}">
                <a16:creationId xmlns:a16="http://schemas.microsoft.com/office/drawing/2014/main" id="{A8545684-7E61-4C1A-BD05-14E8F343992D}"/>
              </a:ext>
            </a:extLst>
          </p:cNvPr>
          <p:cNvSpPr/>
          <p:nvPr/>
        </p:nvSpPr>
        <p:spPr>
          <a:xfrm>
            <a:off x="464217" y="4587766"/>
            <a:ext cx="5632052" cy="1828800"/>
          </a:xfrm>
          <a:prstGeom prst="rect">
            <a:avLst/>
          </a:prstGeom>
          <a:solidFill>
            <a:srgbClr val="1B3055"/>
          </a:solidFill>
          <a:ln>
            <a:solidFill>
              <a:srgbClr val="1627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Shape 3">
            <a:extLst>
              <a:ext uri="{FF2B5EF4-FFF2-40B4-BE49-F238E27FC236}">
                <a16:creationId xmlns:a16="http://schemas.microsoft.com/office/drawing/2014/main" id="{64567FE6-92BF-4080-BFFE-4025E58DA151}"/>
              </a:ext>
            </a:extLst>
          </p:cNvPr>
          <p:cNvSpPr/>
          <p:nvPr/>
        </p:nvSpPr>
        <p:spPr>
          <a:xfrm>
            <a:off x="657592" y="2447912"/>
            <a:ext cx="548640" cy="548640"/>
          </a:xfrm>
          <a:prstGeom prst="ellipse">
            <a:avLst/>
          </a:prstGeom>
          <a:solidFill>
            <a:srgbClr val="13456B"/>
          </a:solidFill>
          <a:ln/>
        </p:spPr>
        <p:txBody>
          <a:bodyPr/>
          <a:lstStyle/>
          <a:p>
            <a:endParaRPr lang="en-US" dirty="0"/>
          </a:p>
        </p:txBody>
      </p:sp>
      <p:sp>
        <p:nvSpPr>
          <p:cNvPr id="24" name="Shape 3">
            <a:extLst>
              <a:ext uri="{FF2B5EF4-FFF2-40B4-BE49-F238E27FC236}">
                <a16:creationId xmlns:a16="http://schemas.microsoft.com/office/drawing/2014/main" id="{67C46A86-1DE0-435D-9B7C-FF43A57E6D6F}"/>
              </a:ext>
            </a:extLst>
          </p:cNvPr>
          <p:cNvSpPr/>
          <p:nvPr/>
        </p:nvSpPr>
        <p:spPr>
          <a:xfrm>
            <a:off x="6528579" y="2407238"/>
            <a:ext cx="548640" cy="548640"/>
          </a:xfrm>
          <a:prstGeom prst="ellipse">
            <a:avLst/>
          </a:prstGeom>
          <a:solidFill>
            <a:srgbClr val="13456B"/>
          </a:solidFill>
          <a:ln/>
        </p:spPr>
      </p:sp>
      <p:sp>
        <p:nvSpPr>
          <p:cNvPr id="25" name="Shape 3">
            <a:extLst>
              <a:ext uri="{FF2B5EF4-FFF2-40B4-BE49-F238E27FC236}">
                <a16:creationId xmlns:a16="http://schemas.microsoft.com/office/drawing/2014/main" id="{C885D8A3-F9D5-4E3A-BA0F-AF98361D9D48}"/>
              </a:ext>
            </a:extLst>
          </p:cNvPr>
          <p:cNvSpPr/>
          <p:nvPr/>
        </p:nvSpPr>
        <p:spPr>
          <a:xfrm>
            <a:off x="6526448" y="4862534"/>
            <a:ext cx="548640" cy="548640"/>
          </a:xfrm>
          <a:prstGeom prst="ellipse">
            <a:avLst/>
          </a:prstGeom>
          <a:solidFill>
            <a:srgbClr val="13456B"/>
          </a:solidFill>
          <a:ln/>
        </p:spPr>
        <p:txBody>
          <a:bodyPr/>
          <a:lstStyle/>
          <a:p>
            <a:endParaRPr lang="en-US" dirty="0"/>
          </a:p>
        </p:txBody>
      </p:sp>
      <p:sp>
        <p:nvSpPr>
          <p:cNvPr id="26" name="Shape 3">
            <a:extLst>
              <a:ext uri="{FF2B5EF4-FFF2-40B4-BE49-F238E27FC236}">
                <a16:creationId xmlns:a16="http://schemas.microsoft.com/office/drawing/2014/main" id="{DF887243-1667-442E-854E-B3D44A8D2E96}"/>
              </a:ext>
            </a:extLst>
          </p:cNvPr>
          <p:cNvSpPr/>
          <p:nvPr/>
        </p:nvSpPr>
        <p:spPr>
          <a:xfrm>
            <a:off x="657592" y="4821191"/>
            <a:ext cx="548640" cy="548640"/>
          </a:xfrm>
          <a:prstGeom prst="ellipse">
            <a:avLst/>
          </a:prstGeom>
          <a:solidFill>
            <a:srgbClr val="13456B"/>
          </a:solidFill>
          <a:ln/>
        </p:spPr>
        <p:txBody>
          <a:bodyPr/>
          <a:lstStyle/>
          <a:p>
            <a:endParaRPr lang="en-US" dirty="0"/>
          </a:p>
        </p:txBody>
      </p:sp>
      <p:pic>
        <p:nvPicPr>
          <p:cNvPr id="30" name="Graphic 29" descr="Lightbulb with solid fill">
            <a:extLst>
              <a:ext uri="{FF2B5EF4-FFF2-40B4-BE49-F238E27FC236}">
                <a16:creationId xmlns:a16="http://schemas.microsoft.com/office/drawing/2014/main" id="{3F239311-B311-44F4-B3E4-E263A7F20B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44114" y="4941915"/>
            <a:ext cx="328523" cy="468362"/>
          </a:xfrm>
          <a:prstGeom prst="rect">
            <a:avLst/>
          </a:prstGeom>
        </p:spPr>
      </p:pic>
      <p:graphicFrame>
        <p:nvGraphicFramePr>
          <p:cNvPr id="31" name="Table 30">
            <a:extLst>
              <a:ext uri="{FF2B5EF4-FFF2-40B4-BE49-F238E27FC236}">
                <a16:creationId xmlns:a16="http://schemas.microsoft.com/office/drawing/2014/main" id="{66F2594D-434F-4343-AA9A-21BD4B79A052}"/>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023622692"/>
                    </a:ext>
                  </a:extLst>
                </a:gridCol>
              </a:tblGrid>
              <a:tr h="0">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2413622345"/>
                  </a:ext>
                </a:extLst>
              </a:tr>
            </a:tbl>
          </a:graphicData>
        </a:graphic>
      </p:graphicFrame>
      <p:graphicFrame>
        <p:nvGraphicFramePr>
          <p:cNvPr id="32" name="Table 31">
            <a:extLst>
              <a:ext uri="{FF2B5EF4-FFF2-40B4-BE49-F238E27FC236}">
                <a16:creationId xmlns:a16="http://schemas.microsoft.com/office/drawing/2014/main" id="{F19D273A-8E58-4D40-84A0-D9D253DB1517}"/>
              </a:ext>
            </a:extLst>
          </p:cNvPr>
          <p:cNvGraphicFramePr>
            <a:graphicFrameLocks noGrp="1"/>
          </p:cNvGraphicFramePr>
          <p:nvPr>
            <p:extLst>
              <p:ext uri="{D42A27DB-BD31-4B8C-83A1-F6EECF244321}">
                <p14:modId xmlns:p14="http://schemas.microsoft.com/office/powerpoint/2010/main" val="721729199"/>
              </p:ext>
            </p:extLst>
          </p:nvPr>
        </p:nvGraphicFramePr>
        <p:xfrm>
          <a:off x="463948" y="5377332"/>
          <a:ext cx="5632052" cy="1039233"/>
        </p:xfrm>
        <a:graphic>
          <a:graphicData uri="http://schemas.openxmlformats.org/drawingml/2006/table">
            <a:tbl>
              <a:tblPr/>
              <a:tblGrid>
                <a:gridCol w="5632052">
                  <a:extLst>
                    <a:ext uri="{9D8B030D-6E8A-4147-A177-3AD203B41FA5}">
                      <a16:colId xmlns:a16="http://schemas.microsoft.com/office/drawing/2014/main" val="4223582934"/>
                    </a:ext>
                  </a:extLst>
                </a:gridCol>
              </a:tblGrid>
              <a:tr h="1039233">
                <a:tc>
                  <a:txBody>
                    <a:bodyPr/>
                    <a:lstStyle/>
                    <a:p>
                      <a:r>
                        <a:rPr lang="en-US" sz="1150" dirty="0">
                          <a:solidFill>
                            <a:schemeClr val="bg1">
                              <a:lumMod val="95000"/>
                            </a:schemeClr>
                          </a:solidFill>
                          <a:latin typeface="Cambria" panose="02040503050406030204" pitchFamily="18" charset="0"/>
                          <a:ea typeface="Cambria" panose="02040503050406030204" pitchFamily="18" charset="0"/>
                        </a:rPr>
                        <a:t>High electricity users can receive personalized recommendations to reduce energy consumption, lower electricity bills, and support sustainable energy use</a:t>
                      </a:r>
                      <a:r>
                        <a:rPr lang="en-US" sz="1200" dirty="0"/>
                        <a:t>.</a:t>
                      </a:r>
                      <a:endParaRPr lang="en-US" sz="1150" dirty="0">
                        <a:solidFill>
                          <a:schemeClr val="bg1">
                            <a:lumMod val="95000"/>
                          </a:schemeClr>
                        </a:solidFill>
                        <a:latin typeface="Cambria" panose="02040503050406030204" pitchFamily="18" charset="0"/>
                        <a:ea typeface="Cambria" panose="02040503050406030204" pitchFamily="18" charset="0"/>
                      </a:endParaRPr>
                    </a:p>
                  </a:txBody>
                  <a:tcPr anchor="ctr">
                    <a:lnL>
                      <a:noFill/>
                    </a:lnL>
                    <a:lnR>
                      <a:noFill/>
                    </a:lnR>
                    <a:lnT>
                      <a:noFill/>
                    </a:lnT>
                    <a:lnB>
                      <a:noFill/>
                    </a:lnB>
                  </a:tcPr>
                </a:tc>
                <a:extLst>
                  <a:ext uri="{0D108BD9-81ED-4DB2-BD59-A6C34878D82A}">
                    <a16:rowId xmlns:a16="http://schemas.microsoft.com/office/drawing/2014/main" val="3071234070"/>
                  </a:ext>
                </a:extLst>
              </a:tr>
            </a:tbl>
          </a:graphicData>
        </a:graphic>
      </p:graphicFrame>
      <p:pic>
        <p:nvPicPr>
          <p:cNvPr id="34" name="Graphic 33" descr="Plant with solid fill">
            <a:extLst>
              <a:ext uri="{FF2B5EF4-FFF2-40B4-BE49-F238E27FC236}">
                <a16:creationId xmlns:a16="http://schemas.microsoft.com/office/drawing/2014/main" id="{4A9A256A-9D5A-4C2A-B176-B0111A1BC6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8400" y="4844183"/>
            <a:ext cx="436450" cy="457200"/>
          </a:xfrm>
          <a:prstGeom prst="rect">
            <a:avLst/>
          </a:prstGeom>
        </p:spPr>
      </p:pic>
      <p:sp>
        <p:nvSpPr>
          <p:cNvPr id="36" name="TextBox 35">
            <a:extLst>
              <a:ext uri="{FF2B5EF4-FFF2-40B4-BE49-F238E27FC236}">
                <a16:creationId xmlns:a16="http://schemas.microsoft.com/office/drawing/2014/main" id="{F19E615C-DF2D-4BE3-A800-D9D13BB76708}"/>
              </a:ext>
            </a:extLst>
          </p:cNvPr>
          <p:cNvSpPr txBox="1"/>
          <p:nvPr/>
        </p:nvSpPr>
        <p:spPr>
          <a:xfrm>
            <a:off x="6644114" y="2447912"/>
            <a:ext cx="5083669" cy="646331"/>
          </a:xfrm>
          <a:prstGeom prst="rect">
            <a:avLst/>
          </a:prstGeom>
          <a:noFill/>
        </p:spPr>
        <p:txBody>
          <a:bodyPr wrap="square" rtlCol="0">
            <a:spAutoFit/>
          </a:bodyPr>
          <a:lstStyle/>
          <a:p>
            <a:r>
              <a:rPr lang="en-US" sz="1800" dirty="0"/>
              <a:t>                     </a:t>
            </a:r>
            <a:r>
              <a:rPr lang="en-US" sz="1450" b="1" dirty="0">
                <a:solidFill>
                  <a:schemeClr val="bg1">
                    <a:lumMod val="95000"/>
                  </a:schemeClr>
                </a:solidFill>
                <a:latin typeface="Cambria" panose="02040503050406030204" pitchFamily="18" charset="0"/>
                <a:ea typeface="Cambria" panose="02040503050406030204" pitchFamily="18" charset="0"/>
              </a:rPr>
              <a:t>Understand Customers Better</a:t>
            </a:r>
          </a:p>
          <a:p>
            <a:endParaRPr lang="en-US" dirty="0"/>
          </a:p>
        </p:txBody>
      </p:sp>
      <p:sp>
        <p:nvSpPr>
          <p:cNvPr id="37" name="TextBox 36">
            <a:extLst>
              <a:ext uri="{FF2B5EF4-FFF2-40B4-BE49-F238E27FC236}">
                <a16:creationId xmlns:a16="http://schemas.microsoft.com/office/drawing/2014/main" id="{9E038B10-C0DD-4DE4-8409-2B3BA55278AD}"/>
              </a:ext>
            </a:extLst>
          </p:cNvPr>
          <p:cNvSpPr txBox="1"/>
          <p:nvPr/>
        </p:nvSpPr>
        <p:spPr>
          <a:xfrm>
            <a:off x="751758" y="4813689"/>
            <a:ext cx="4935916" cy="646331"/>
          </a:xfrm>
          <a:prstGeom prst="rect">
            <a:avLst/>
          </a:prstGeom>
          <a:noFill/>
        </p:spPr>
        <p:txBody>
          <a:bodyPr wrap="square" rtlCol="0">
            <a:spAutoFit/>
          </a:bodyPr>
          <a:lstStyle/>
          <a:p>
            <a:r>
              <a:rPr lang="en-US" sz="1800" b="1" dirty="0">
                <a:solidFill>
                  <a:schemeClr val="bg1">
                    <a:lumMod val="95000"/>
                  </a:schemeClr>
                </a:solidFill>
                <a:latin typeface="Cambria" panose="02040503050406030204" pitchFamily="18" charset="0"/>
                <a:ea typeface="Cambria" panose="02040503050406030204" pitchFamily="18" charset="0"/>
              </a:rPr>
              <a:t>                 </a:t>
            </a:r>
            <a:r>
              <a:rPr lang="en-US" sz="1600" b="1" dirty="0">
                <a:solidFill>
                  <a:schemeClr val="bg1">
                    <a:lumMod val="95000"/>
                  </a:schemeClr>
                </a:solidFill>
                <a:latin typeface="Cambria" panose="02040503050406030204" pitchFamily="18" charset="0"/>
                <a:ea typeface="Cambria" panose="02040503050406030204" pitchFamily="18" charset="0"/>
              </a:rPr>
              <a:t>Promote Energy Efficiency</a:t>
            </a:r>
            <a:endParaRPr lang="en-US" sz="1450" b="1" dirty="0">
              <a:solidFill>
                <a:schemeClr val="bg1">
                  <a:lumMod val="95000"/>
                </a:schemeClr>
              </a:solidFill>
              <a:latin typeface="Cambria" panose="02040503050406030204" pitchFamily="18" charset="0"/>
              <a:ea typeface="Cambria" panose="02040503050406030204" pitchFamily="18" charset="0"/>
            </a:endParaRPr>
          </a:p>
          <a:p>
            <a:endParaRPr lang="en-US" dirty="0"/>
          </a:p>
        </p:txBody>
      </p:sp>
      <p:sp>
        <p:nvSpPr>
          <p:cNvPr id="39" name="TextBox 38">
            <a:extLst>
              <a:ext uri="{FF2B5EF4-FFF2-40B4-BE49-F238E27FC236}">
                <a16:creationId xmlns:a16="http://schemas.microsoft.com/office/drawing/2014/main" id="{39E2923B-AB25-46E6-B008-3416D60EF02E}"/>
              </a:ext>
            </a:extLst>
          </p:cNvPr>
          <p:cNvSpPr txBox="1"/>
          <p:nvPr/>
        </p:nvSpPr>
        <p:spPr>
          <a:xfrm>
            <a:off x="6499552" y="4908345"/>
            <a:ext cx="4885313" cy="646331"/>
          </a:xfrm>
          <a:prstGeom prst="rect">
            <a:avLst/>
          </a:prstGeom>
          <a:noFill/>
        </p:spPr>
        <p:txBody>
          <a:bodyPr wrap="square" rtlCol="0">
            <a:spAutoFit/>
          </a:bodyPr>
          <a:lstStyle/>
          <a:p>
            <a:r>
              <a:rPr lang="en-US" sz="1800" dirty="0">
                <a:latin typeface="Cambria" panose="02040503050406030204" pitchFamily="18" charset="0"/>
                <a:ea typeface="Cambria" panose="02040503050406030204" pitchFamily="18" charset="0"/>
              </a:rPr>
              <a:t>                        </a:t>
            </a:r>
            <a:r>
              <a:rPr lang="en-US" sz="1600" b="1" dirty="0">
                <a:solidFill>
                  <a:schemeClr val="bg1">
                    <a:lumMod val="95000"/>
                  </a:schemeClr>
                </a:solidFill>
                <a:latin typeface="Cambria" panose="02040503050406030204" pitchFamily="18" charset="0"/>
                <a:ea typeface="Cambria" panose="02040503050406030204" pitchFamily="18" charset="0"/>
              </a:rPr>
              <a:t>Better Energy Planning</a:t>
            </a:r>
            <a:endParaRPr lang="en-US" sz="1450" b="1" dirty="0">
              <a:solidFill>
                <a:schemeClr val="bg1">
                  <a:lumMod val="95000"/>
                </a:schemeClr>
              </a:solidFill>
              <a:latin typeface="Cambria" panose="02040503050406030204" pitchFamily="18" charset="0"/>
              <a:ea typeface="Cambria" panose="02040503050406030204" pitchFamily="18" charset="0"/>
            </a:endParaRPr>
          </a:p>
          <a:p>
            <a:endParaRPr lang="en-US" dirty="0"/>
          </a:p>
        </p:txBody>
      </p:sp>
      <p:pic>
        <p:nvPicPr>
          <p:cNvPr id="41" name="Graphic 40" descr="Users with solid fill">
            <a:extLst>
              <a:ext uri="{FF2B5EF4-FFF2-40B4-BE49-F238E27FC236}">
                <a16:creationId xmlns:a16="http://schemas.microsoft.com/office/drawing/2014/main" id="{D1254A7B-68CF-4812-9C8E-96CB0487E7A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79775" y="2459416"/>
            <a:ext cx="457200" cy="365760"/>
          </a:xfrm>
          <a:prstGeom prst="rect">
            <a:avLst/>
          </a:prstGeom>
        </p:spPr>
      </p:pic>
      <p:pic>
        <p:nvPicPr>
          <p:cNvPr id="43" name="Graphic 42" descr="Coins with solid fill">
            <a:extLst>
              <a:ext uri="{FF2B5EF4-FFF2-40B4-BE49-F238E27FC236}">
                <a16:creationId xmlns:a16="http://schemas.microsoft.com/office/drawing/2014/main" id="{C40F445F-C74E-41E2-B1B6-51FE83C5936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7678" y="2484083"/>
            <a:ext cx="348468" cy="494676"/>
          </a:xfrm>
          <a:prstGeom prst="rect">
            <a:avLst/>
          </a:prstGeom>
        </p:spPr>
      </p:pic>
    </p:spTree>
    <p:extLst>
      <p:ext uri="{BB962C8B-B14F-4D97-AF65-F5344CB8AC3E}">
        <p14:creationId xmlns:p14="http://schemas.microsoft.com/office/powerpoint/2010/main" val="2508932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238</TotalTime>
  <Words>1193</Words>
  <Application>Microsoft Office PowerPoint</Application>
  <PresentationFormat>Widescreen</PresentationFormat>
  <Paragraphs>191</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WattSight — Household Electricity Clustering &amp; Forecasting</dc:title>
  <dc:subject>PptxGenJS Presentation</dc:subject>
  <dc:creator>WattSight</dc:creator>
  <cp:lastModifiedBy>Prisca Mutua</cp:lastModifiedBy>
  <cp:revision>18</cp:revision>
  <dcterms:created xsi:type="dcterms:W3CDTF">2026-07-07T15:52:26Z</dcterms:created>
  <dcterms:modified xsi:type="dcterms:W3CDTF">2026-07-07T19:59:12Z</dcterms:modified>
</cp:coreProperties>
</file>